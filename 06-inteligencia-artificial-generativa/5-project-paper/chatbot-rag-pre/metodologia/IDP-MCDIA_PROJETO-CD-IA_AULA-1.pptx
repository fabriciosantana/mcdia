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</p:sldIdLst>
  <p:sldSz cy="6858000" cx="12192000"/>
  <p:notesSz cx="6858000" cy="9144000"/>
  <p:embeddedFontLst>
    <p:embeddedFont>
      <p:font typeface="Play"/>
      <p:regular r:id="rId65"/>
      <p:bold r:id="rId66"/>
    </p:embeddedFont>
    <p:embeddedFont>
      <p:font typeface="Roboto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1" roundtripDataSignature="AMtx7mgPXofb5kTrjtMO7tbZGhrBZtaU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7CE0A8-3212-4F78-8E15-C85D8ED5CFE6}">
  <a:tblStyle styleId="{837CE0A8-3212-4F78-8E15-C85D8ED5CF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customschemas.google.com/relationships/presentationmetadata" Target="metadata"/><Relationship Id="rId70" Type="http://schemas.openxmlformats.org/officeDocument/2006/relationships/font" Target="fonts/Roboto-bold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Play-bold.fntdata"/><Relationship Id="rId21" Type="http://schemas.openxmlformats.org/officeDocument/2006/relationships/slide" Target="slides/slide16.xml"/><Relationship Id="rId65" Type="http://schemas.openxmlformats.org/officeDocument/2006/relationships/font" Target="fonts/Play-regular.fntdata"/><Relationship Id="rId24" Type="http://schemas.openxmlformats.org/officeDocument/2006/relationships/slide" Target="slides/slide19.xml"/><Relationship Id="rId68" Type="http://schemas.openxmlformats.org/officeDocument/2006/relationships/font" Target="fonts/Roboto-bold.fntdata"/><Relationship Id="rId23" Type="http://schemas.openxmlformats.org/officeDocument/2006/relationships/slide" Target="slides/slide18.xml"/><Relationship Id="rId67" Type="http://schemas.openxmlformats.org/officeDocument/2006/relationships/font" Target="fonts/Roboto-regular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Roboto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125265ec7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e125265ec7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125265ec7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e125265ec7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125265ec7_0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e125265ec7_0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125265ec7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e125265ec7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125265ec7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e125265ec7_0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125265ec7_0_1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e125265ec7_0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125265ec7_0_1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e125265ec7_0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125265ec7_0_1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e125265ec7_0_1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125265ec7_0_4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e125265ec7_0_4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125265ec7_0_5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e125265ec7_0_5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e1d6d68533_0_3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e1d6d68533_0_3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e125265ec7_0_9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e125265ec7_0_9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e125265ec7_0_6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e125265ec7_0_6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e125265ec7_0_8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e125265ec7_0_8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e125265ec7_0_8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e125265ec7_0_8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e125265ec7_0_9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3e125265ec7_0_9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e125265ec7_0_9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e125265ec7_0_9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e125265ec7_0_9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e125265ec7_0_9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e125265ec7_0_9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e125265ec7_0_9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e125265ec7_0_10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g3e125265ec7_0_10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e125265ec7_0_10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g3e125265ec7_0_10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e125265ec7_0_10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g3e125265ec7_0_10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e125265ec7_0_10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g3e125265ec7_0_10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e125265ec7_0_10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g3e125265ec7_0_10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e125265ec7_0_10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g3e125265ec7_0_10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e125265ec7_0_11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g3e125265ec7_0_1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e1d6d68533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g3e1d6d68533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e1d6d68533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g3e1d6d68533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e1d6d68533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g3e1d6d68533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e1d6d68533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g3e1d6d68533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e1d6d68533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g3e1d6d68533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e1d6d68533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g3e1d6d68533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e1d6d68533_0_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g3e1d6d68533_0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e1d6d68533_0_1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g3e1d6d68533_0_1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e1d6d68533_0_2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g3e1d6d68533_0_2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e1d6d68533_0_2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g3e1d6d68533_0_2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e1d6d68533_0_2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g3e1d6d68533_0_2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e1d6d68533_0_2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g3e1d6d68533_0_2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e1d6d68533_0_2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g3e1d6d68533_0_2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e1d6d68533_0_2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g3e1d6d68533_0_2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e1d6d68533_0_2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g3e1d6d68533_0_2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e1d6d68533_0_3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g3e1d6d68533_0_3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e1d6d68533_0_3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g3e1d6d68533_0_3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e1d6d68533_0_3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g3e1d6d68533_0_3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e1d6d68533_0_3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g3e1d6d68533_0_3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3e1d6d68533_0_3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g3e1d6d68533_0_3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e1d6d68533_0_1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g3e1d6d68533_0_1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e1d6d68533_0_3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g3e1d6d68533_0_3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e1d6d68533_0_4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g3e1d6d68533_0_4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e1d6d68533_0_4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g3e1d6d68533_0_4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e1d6d68533_0_4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g3e1d6d68533_0_4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e1d6d68533_0_4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g3e1d6d68533_0_4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3e1d6d68533_0_4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g3e1d6d68533_0_4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7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7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7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8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8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8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8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8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>
  <p:cSld name="TITLE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86" name="Google Shape;86;p8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87" name="Google Shape;87;p8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83"/>
          <p:cNvSpPr/>
          <p:nvPr/>
        </p:nvSpPr>
        <p:spPr>
          <a:xfrm>
            <a:off x="-8867" y="623650"/>
            <a:ext cx="4722600" cy="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</a:pPr>
            <a:r>
              <a:t/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3"/>
          <p:cNvSpPr txBox="1"/>
          <p:nvPr/>
        </p:nvSpPr>
        <p:spPr>
          <a:xfrm>
            <a:off x="470600" y="205617"/>
            <a:ext cx="1738000" cy="3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60950" spcFirstLastPara="1" rIns="60950" wrap="square" tIns="6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A8C3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3A8C3"/>
                </a:solidFill>
                <a:latin typeface="Arial"/>
                <a:ea typeface="Arial"/>
                <a:cs typeface="Arial"/>
                <a:sym typeface="Arial"/>
              </a:rPr>
              <a:t>IEC PUC Minas</a:t>
            </a:r>
            <a:endParaRPr sz="1600">
              <a:solidFill>
                <a:srgbClr val="23A8C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83"/>
          <p:cNvSpPr/>
          <p:nvPr/>
        </p:nvSpPr>
        <p:spPr>
          <a:xfrm>
            <a:off x="-604121" y="6291081"/>
            <a:ext cx="1196000" cy="1146200"/>
          </a:xfrm>
          <a:prstGeom prst="ellipse">
            <a:avLst/>
          </a:prstGeom>
          <a:noFill/>
          <a:ln cap="flat" cmpd="sng" w="7620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</a:pPr>
            <a:r>
              <a:t/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hyperlink" Target="https://apps.timwhitlock.info/emoji/tables/unicode#emoji-modal" TargetMode="External"/><Relationship Id="rId6" Type="http://schemas.openxmlformats.org/officeDocument/2006/relationships/hyperlink" Target="https://apps.timwhitlock.info/emoji/tables/unicode#emoji-moda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hyperlink" Target="https://apps.timwhitlock.info/emoji/tables/unicode#emoji-modal" TargetMode="External"/><Relationship Id="rId6" Type="http://schemas.openxmlformats.org/officeDocument/2006/relationships/hyperlink" Target="https://apps.timwhitlock.info/emoji/tables/unicode#emoji-moda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hyperlink" Target="https://apps.timwhitlock.info/emoji/tables/unicode#emoji-modal" TargetMode="External"/><Relationship Id="rId6" Type="http://schemas.openxmlformats.org/officeDocument/2006/relationships/hyperlink" Target="https://apps.timwhitlock.info/emoji/tables/unicode#emoji-modal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7.png"/><Relationship Id="rId6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1.png"/><Relationship Id="rId6" Type="http://schemas.openxmlformats.org/officeDocument/2006/relationships/image" Target="../media/image12.png"/><Relationship Id="rId7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2.png"/><Relationship Id="rId6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1.png"/><Relationship Id="rId6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hyperlink" Target="https://bibliotecas.ufu.br/sites/bibliotecas.ufu.br/files/media/imagem/projeto_de_pesquisa_maio_25.pdf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9.png"/><Relationship Id="rId6" Type="http://schemas.openxmlformats.org/officeDocument/2006/relationships/image" Target="../media/image23.png"/><Relationship Id="rId7" Type="http://schemas.openxmlformats.org/officeDocument/2006/relationships/image" Target="../media/image2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/>
          <p:nvPr/>
        </p:nvSpPr>
        <p:spPr>
          <a:xfrm>
            <a:off x="0" y="1216478"/>
            <a:ext cx="12192000" cy="3062042"/>
          </a:xfrm>
          <a:prstGeom prst="rect">
            <a:avLst/>
          </a:prstGeom>
          <a:solidFill>
            <a:srgbClr val="CAD8E6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>
            <p:ph type="ctrTitle"/>
          </p:nvPr>
        </p:nvSpPr>
        <p:spPr>
          <a:xfrm>
            <a:off x="540274" y="2271050"/>
            <a:ext cx="81906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Apresentação da Disciplina</a:t>
            </a:r>
            <a:endParaRPr sz="5900"/>
          </a:p>
        </p:txBody>
      </p:sp>
      <p:sp>
        <p:nvSpPr>
          <p:cNvPr id="97" name="Google Shape;97;p1"/>
          <p:cNvSpPr/>
          <p:nvPr/>
        </p:nvSpPr>
        <p:spPr>
          <a:xfrm>
            <a:off x="-9401" y="4074606"/>
            <a:ext cx="4600415" cy="87185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>
            <p:ph idx="1" type="subTitle"/>
          </p:nvPr>
        </p:nvSpPr>
        <p:spPr>
          <a:xfrm>
            <a:off x="298500" y="163225"/>
            <a:ext cx="3185400" cy="8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en-US" sz="1900"/>
              <a:t>Prof. </a:t>
            </a:r>
            <a:r>
              <a:rPr i="1" lang="en-US" sz="1900">
                <a:latin typeface="Arial"/>
                <a:ea typeface="Arial"/>
                <a:cs typeface="Arial"/>
                <a:sym typeface="Arial"/>
              </a:rPr>
              <a:t>Marcelo </a:t>
            </a:r>
            <a:r>
              <a:rPr i="1" lang="en-US" sz="1900"/>
              <a:t>Pita</a:t>
            </a:r>
            <a:endParaRPr i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en-US" sz="1900"/>
              <a:t>Prof. </a:t>
            </a:r>
            <a:r>
              <a:rPr i="1" lang="en-US" sz="1900"/>
              <a:t>Hélio Macêdo Filho</a:t>
            </a:r>
            <a:endParaRPr i="1" sz="190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2605" y="628432"/>
            <a:ext cx="1178034" cy="117803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/>
          <p:nvPr/>
        </p:nvSpPr>
        <p:spPr>
          <a:xfrm>
            <a:off x="7522756" y="1179102"/>
            <a:ext cx="4600415" cy="87185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7814869" y="3422367"/>
            <a:ext cx="4308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4862"/>
                </a:solidFill>
                <a:latin typeface="Arial"/>
                <a:ea typeface="Arial"/>
                <a:cs typeface="Arial"/>
                <a:sym typeface="Arial"/>
              </a:rPr>
              <a:t>Mestrado Profissional em Ciência de Dados</a:t>
            </a:r>
            <a:br>
              <a:rPr b="1" lang="en-US" sz="1500">
                <a:solidFill>
                  <a:srgbClr val="0F4862"/>
                </a:solidFill>
              </a:rPr>
            </a:br>
            <a:r>
              <a:rPr b="1" i="0" lang="en-US" sz="1500" u="none" cap="none" strike="noStrike">
                <a:solidFill>
                  <a:srgbClr val="0F4862"/>
                </a:solidFill>
                <a:latin typeface="Arial"/>
                <a:ea typeface="Arial"/>
                <a:cs typeface="Arial"/>
                <a:sym typeface="Arial"/>
              </a:rPr>
              <a:t>e Inteligência Artificial no Setor Público</a:t>
            </a:r>
            <a:endParaRPr b="1" sz="1500">
              <a:solidFill>
                <a:srgbClr val="0F48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ma imagem contendo objeto, relógio de pulso, relógio, placar&#10;&#10;O conteúdo gerado por IA pode estar incorreto." id="102" name="Google Shape;10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9155" y="2461081"/>
            <a:ext cx="1757614" cy="866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 title="projeto_cd_i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161800"/>
            <a:ext cx="12191999" cy="267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/>
          <p:nvPr/>
        </p:nvSpPr>
        <p:spPr>
          <a:xfrm>
            <a:off x="0" y="1137"/>
            <a:ext cx="12192000" cy="988245"/>
          </a:xfrm>
          <a:prstGeom prst="rect">
            <a:avLst/>
          </a:prstGeom>
          <a:solidFill>
            <a:srgbClr val="CAD8E6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1" type="body"/>
          </p:nvPr>
        </p:nvSpPr>
        <p:spPr>
          <a:xfrm>
            <a:off x="4967675" y="1432400"/>
            <a:ext cx="6990000" cy="45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b="1" lang="en-US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Formação</a:t>
            </a:r>
            <a:endParaRPr/>
          </a:p>
          <a:p>
            <a:pPr indent="-274828" lvl="1" marL="6858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b="1" i="1" lang="en-US" sz="2300">
                <a:latin typeface="Arial"/>
                <a:ea typeface="Arial"/>
                <a:cs typeface="Arial"/>
                <a:sym typeface="Arial"/>
              </a:rPr>
              <a:t>Doutorado em Ciência da Computação (UFMG – 2019)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218630" lvl="2" marL="1143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§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Ênfase: Processamento de Linguagem Natural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14986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17678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b="1" i="1" lang="en-US" sz="2300">
                <a:latin typeface="Arial"/>
                <a:ea typeface="Arial"/>
                <a:cs typeface="Arial"/>
                <a:sym typeface="Arial"/>
              </a:rPr>
              <a:t>Mestrado em Engenharia da Computação (UPE – 2009)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218630" lvl="2" marL="1143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§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Ênfase: Modelagem baseada em agentes inteligentes</a:t>
            </a:r>
            <a:endParaRPr/>
          </a:p>
          <a:p>
            <a:pPr indent="-135128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217678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b="1" i="1" lang="en-US" sz="2300">
                <a:latin typeface="Arial"/>
                <a:ea typeface="Arial"/>
                <a:cs typeface="Arial"/>
                <a:sym typeface="Arial"/>
              </a:rPr>
              <a:t>Engenharia da Computação (UPE – 2006)</a:t>
            </a:r>
            <a:endParaRPr sz="2300"/>
          </a:p>
          <a:p>
            <a:pPr indent="-218630" lvl="2" marL="1143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§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Ênfase: Aprendizado de máquina, Computação inteligente</a:t>
            </a:r>
            <a:endParaRPr/>
          </a:p>
          <a:p>
            <a:pPr indent="-154813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17678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b="1" i="1" lang="en-US" sz="2300">
                <a:latin typeface="Arial"/>
                <a:ea typeface="Arial"/>
                <a:cs typeface="Arial"/>
                <a:sym typeface="Arial"/>
              </a:rPr>
              <a:t>Biotecnologia (UnB – em andamento)</a:t>
            </a:r>
            <a:endParaRPr/>
          </a:p>
          <a:p>
            <a:pPr indent="0" lvl="0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b="1" lang="en-US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Interesses profissionais e acadêmicos</a:t>
            </a:r>
            <a:endParaRPr>
              <a:solidFill>
                <a:schemeClr val="accent1"/>
              </a:solidFill>
            </a:endParaRPr>
          </a:p>
          <a:p>
            <a:pPr indent="-275780" lvl="1" marL="97155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i="1" lang="en-US" sz="2100">
                <a:latin typeface="Arial"/>
                <a:ea typeface="Arial"/>
                <a:cs typeface="Arial"/>
                <a:sym typeface="Arial"/>
              </a:rPr>
              <a:t>Desenvolvimento de soluções de IA para a Administração Pública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275780" lvl="1" marL="97155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i="1" lang="en-US" sz="2100">
                <a:latin typeface="Arial"/>
                <a:ea typeface="Arial"/>
                <a:cs typeface="Arial"/>
                <a:sym typeface="Arial"/>
              </a:rPr>
              <a:t>IA Generativa e Processamento de Linguagem Natural</a:t>
            </a:r>
            <a:endParaRPr/>
          </a:p>
          <a:p>
            <a:pPr indent="-275781" lvl="1" marL="97155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i="1" lang="en-US" sz="2100">
                <a:latin typeface="Arial"/>
                <a:ea typeface="Arial"/>
                <a:cs typeface="Arial"/>
                <a:sym typeface="Arial"/>
              </a:rPr>
              <a:t>Aplicações de IA em Biotecnologia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393114" y="917949"/>
            <a:ext cx="5610065" cy="68135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-1" y="6123412"/>
            <a:ext cx="12192000" cy="73424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323348" y="6303818"/>
            <a:ext cx="425532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| Apresentação da disciplina</a:t>
            </a:r>
            <a:endParaRPr/>
          </a:p>
        </p:txBody>
      </p:sp>
      <p:grpSp>
        <p:nvGrpSpPr>
          <p:cNvPr id="113" name="Google Shape;113;p2"/>
          <p:cNvGrpSpPr/>
          <p:nvPr/>
        </p:nvGrpSpPr>
        <p:grpSpPr>
          <a:xfrm>
            <a:off x="391650" y="1432410"/>
            <a:ext cx="4202100" cy="4117592"/>
            <a:chOff x="391651" y="1748955"/>
            <a:chExt cx="4202100" cy="4427042"/>
          </a:xfrm>
        </p:grpSpPr>
        <p:sp>
          <p:nvSpPr>
            <p:cNvPr id="114" name="Google Shape;114;p2"/>
            <p:cNvSpPr txBox="1"/>
            <p:nvPr/>
          </p:nvSpPr>
          <p:spPr>
            <a:xfrm>
              <a:off x="395850" y="1748955"/>
              <a:ext cx="4193700" cy="446700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Marcelo Rodrigo de Souza </a:t>
              </a:r>
              <a:r>
                <a:rPr b="1" lang="en-US" sz="2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Pita</a:t>
              </a:r>
              <a:endParaRPr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391651" y="2383096"/>
              <a:ext cx="4202100" cy="37929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  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   marcelo.pita@idp.edu.br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   www.linkedin.com/in/marcelopita</a:t>
              </a:r>
              <a:endParaRPr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   (61) 9 9642-7698</a:t>
              </a:r>
              <a:endParaRPr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   @marcelosouzapita</a:t>
              </a:r>
              <a:endParaRPr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   marcelopita.com.br</a:t>
              </a:r>
              <a:endParaRPr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Ícone&#10;&#10;O conteúdo gerado por IA pode estar incorreto." id="116" name="Google Shape;116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81891" y="2976770"/>
              <a:ext cx="429491" cy="399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inkedin - ícones de mídia social grátis" id="117" name="Google Shape;117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7899" y="3585404"/>
              <a:ext cx="407578" cy="3976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Whatsapp - ícones de mídia social grátis" id="118" name="Google Shape;118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87829" y="4157684"/>
              <a:ext cx="407719" cy="4081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Ícones de Instagram para download gratuito" id="119" name="Google Shape;119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87829" y="4757340"/>
              <a:ext cx="407720" cy="3780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web&quot; Icon - Download for free – Iconduck" id="120" name="Google Shape;120;p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1787" y="5295689"/>
              <a:ext cx="419595" cy="3998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1" name="Google Shape;121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123" name="Google Shape;123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04298" y="6229349"/>
            <a:ext cx="875298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"/>
          <p:cNvSpPr txBox="1"/>
          <p:nvPr>
            <p:ph type="title"/>
          </p:nvPr>
        </p:nvSpPr>
        <p:spPr>
          <a:xfrm>
            <a:off x="391510" y="154917"/>
            <a:ext cx="10515600" cy="835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Sobre o professor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/>
          <p:nvPr/>
        </p:nvSpPr>
        <p:spPr>
          <a:xfrm>
            <a:off x="0" y="1137"/>
            <a:ext cx="12192000" cy="988245"/>
          </a:xfrm>
          <a:prstGeom prst="rect">
            <a:avLst/>
          </a:prstGeom>
          <a:solidFill>
            <a:srgbClr val="CAD8E6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>
            <p:ph type="title"/>
          </p:nvPr>
        </p:nvSpPr>
        <p:spPr>
          <a:xfrm>
            <a:off x="391510" y="154917"/>
            <a:ext cx="10515600" cy="835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Sobre a disciplina</a:t>
            </a:r>
            <a:endParaRPr/>
          </a:p>
        </p:txBody>
      </p:sp>
      <p:sp>
        <p:nvSpPr>
          <p:cNvPr id="131" name="Google Shape;131;p4"/>
          <p:cNvSpPr txBox="1"/>
          <p:nvPr>
            <p:ph idx="1" type="body"/>
          </p:nvPr>
        </p:nvSpPr>
        <p:spPr>
          <a:xfrm>
            <a:off x="395275" y="1431475"/>
            <a:ext cx="109584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600"/>
              <a:t>PROJETO DE CIÊNCIA DE DADOS E INTELIGÊNCIA ARTIFICIAL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25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en-US">
                <a:solidFill>
                  <a:schemeClr val="accent1"/>
                </a:solidFill>
              </a:rPr>
              <a:t>Objetivos</a:t>
            </a:r>
            <a:endParaRPr b="1">
              <a:solidFill>
                <a:schemeClr val="accent1"/>
              </a:solidFill>
            </a:endParaRPr>
          </a:p>
          <a:p>
            <a:pPr indent="-228600" lvl="1" marL="685800" rtl="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rgbClr val="2D3B45"/>
              </a:buClr>
              <a:buSzPts val="1900"/>
              <a:buAutoNum type="arabicPeriod"/>
            </a:pPr>
            <a:r>
              <a:rPr lang="en-US" sz="1900">
                <a:solidFill>
                  <a:srgbClr val="2D3B45"/>
                </a:solidFill>
                <a:highlight>
                  <a:schemeClr val="lt1"/>
                </a:highlight>
              </a:rPr>
              <a:t>Aplicar métodos e técnicas de pesquisa científica compatíveis com projetos de CD e IA;</a:t>
            </a:r>
            <a:endParaRPr b="1" sz="1900"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D3B45"/>
              </a:buClr>
              <a:buSzPts val="1900"/>
              <a:buAutoNum type="arabicPeriod"/>
            </a:pPr>
            <a:r>
              <a:rPr lang="en-US" sz="1900">
                <a:solidFill>
                  <a:srgbClr val="2D3B45"/>
                </a:solidFill>
                <a:highlight>
                  <a:schemeClr val="lt1"/>
                </a:highlight>
              </a:rPr>
              <a:t>Estruturar textos científicos conforme normas da ABNT;</a:t>
            </a:r>
            <a:endParaRPr sz="1900"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D3B45"/>
              </a:buClr>
              <a:buSzPts val="1900"/>
              <a:buAutoNum type="arabicPeriod"/>
            </a:pPr>
            <a:r>
              <a:rPr lang="en-US" sz="1900">
                <a:solidFill>
                  <a:srgbClr val="2D3B45"/>
                </a:solidFill>
                <a:highlight>
                  <a:schemeClr val="lt1"/>
                </a:highlight>
              </a:rPr>
              <a:t>Utilizar ferramentas de IA de forma ética e transparente;</a:t>
            </a:r>
            <a:endParaRPr sz="1900">
              <a:solidFill>
                <a:srgbClr val="2D3B45"/>
              </a:solidFill>
              <a:highlight>
                <a:schemeClr val="lt1"/>
              </a:highlight>
            </a:endParaRPr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D3B45"/>
              </a:buClr>
              <a:buSzPts val="1900"/>
              <a:buAutoNum type="arabicPeriod"/>
            </a:pPr>
            <a:r>
              <a:rPr lang="en-US" sz="1900">
                <a:solidFill>
                  <a:srgbClr val="2D3B45"/>
                </a:solidFill>
                <a:highlight>
                  <a:schemeClr val="lt1"/>
                </a:highlight>
              </a:rPr>
              <a:t>Apresentar seus projetos perante banca examinadora com consistência técnica e clareza metodológica.</a:t>
            </a:r>
            <a:endParaRPr sz="1900">
              <a:solidFill>
                <a:srgbClr val="2D3B45"/>
              </a:solidFill>
              <a:highlight>
                <a:schemeClr val="lt1"/>
              </a:highlight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393114" y="917949"/>
            <a:ext cx="5610065" cy="68135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-1" y="6123412"/>
            <a:ext cx="12192000" cy="73424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1323348" y="6303818"/>
            <a:ext cx="425532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| Apresentação da disciplina</a:t>
            </a:r>
            <a:endParaRPr/>
          </a:p>
        </p:txBody>
      </p:sp>
      <p:sp>
        <p:nvSpPr>
          <p:cNvPr id="135" name="Google Shape;13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6" name="Google Shape;1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137" name="Google Shape;1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8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"/>
          <p:cNvSpPr/>
          <p:nvPr/>
        </p:nvSpPr>
        <p:spPr>
          <a:xfrm>
            <a:off x="670425" y="1307850"/>
            <a:ext cx="10473900" cy="681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125265ec7_0_15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e125265ec7_0_15"/>
          <p:cNvSpPr txBox="1"/>
          <p:nvPr>
            <p:ph type="title"/>
          </p:nvPr>
        </p:nvSpPr>
        <p:spPr>
          <a:xfrm>
            <a:off x="391510" y="154917"/>
            <a:ext cx="105156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Sobre a disciplina</a:t>
            </a:r>
            <a:endParaRPr/>
          </a:p>
        </p:txBody>
      </p:sp>
      <p:sp>
        <p:nvSpPr>
          <p:cNvPr id="145" name="Google Shape;145;g3e125265ec7_0_15"/>
          <p:cNvSpPr txBox="1"/>
          <p:nvPr>
            <p:ph idx="1" type="body"/>
          </p:nvPr>
        </p:nvSpPr>
        <p:spPr>
          <a:xfrm>
            <a:off x="395275" y="1431475"/>
            <a:ext cx="10958400" cy="4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600"/>
              <a:t>PROJETO DE CIÊNCIA DE DADOS E INTELIGÊNCIA ARTIFICIAL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25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en-US">
                <a:solidFill>
                  <a:schemeClr val="accent1"/>
                </a:solidFill>
              </a:rPr>
              <a:t>Metodologia de ensino</a:t>
            </a:r>
            <a:endParaRPr b="1">
              <a:solidFill>
                <a:schemeClr val="accent1"/>
              </a:solidFill>
            </a:endParaRPr>
          </a:p>
          <a:p>
            <a:pPr indent="-228600" lvl="1" marL="685800" rtl="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rgbClr val="2D3B45"/>
              </a:buClr>
              <a:buSzPts val="1900"/>
              <a:buChar char="❏"/>
            </a:pPr>
            <a:r>
              <a:rPr b="1" lang="en-US" sz="1900">
                <a:solidFill>
                  <a:srgbClr val="2D3B45"/>
                </a:solidFill>
                <a:highlight>
                  <a:schemeClr val="lt1"/>
                </a:highlight>
              </a:rPr>
              <a:t>Aulas expositivas dialogadas (Prof. Pita)</a:t>
            </a:r>
            <a:br>
              <a:rPr b="1" lang="en-US" sz="1900">
                <a:solidFill>
                  <a:srgbClr val="2D3B45"/>
                </a:solidFill>
                <a:highlight>
                  <a:schemeClr val="lt1"/>
                </a:highlight>
              </a:rPr>
            </a:br>
            <a:r>
              <a:rPr i="1" lang="en-US" sz="1300">
                <a:solidFill>
                  <a:srgbClr val="595959"/>
                </a:solidFill>
                <a:highlight>
                  <a:schemeClr val="lt1"/>
                </a:highlight>
              </a:rPr>
              <a:t>- Metodología científica</a:t>
            </a:r>
            <a:endParaRPr b="1" sz="1700"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D3B45"/>
              </a:buClr>
              <a:buSzPts val="1900"/>
              <a:buChar char="❏"/>
            </a:pPr>
            <a:r>
              <a:rPr b="1" lang="en-US" sz="1900">
                <a:solidFill>
                  <a:srgbClr val="2D3B45"/>
                </a:solidFill>
                <a:highlight>
                  <a:schemeClr val="lt1"/>
                </a:highlight>
              </a:rPr>
              <a:t>Laboratórios práticos (Prof. Hélio)</a:t>
            </a:r>
            <a:br>
              <a:rPr b="1" lang="en-US" sz="1900">
                <a:solidFill>
                  <a:srgbClr val="2D3B45"/>
                </a:solidFill>
                <a:highlight>
                  <a:schemeClr val="lt1"/>
                </a:highlight>
              </a:rPr>
            </a:br>
            <a:r>
              <a:rPr i="1" lang="en-US" sz="1300">
                <a:solidFill>
                  <a:srgbClr val="595959"/>
                </a:solidFill>
                <a:highlight>
                  <a:schemeClr val="lt1"/>
                </a:highlight>
              </a:rPr>
              <a:t>- Projeto de CD e IA de ponta-a-ponta como estudo de caso</a:t>
            </a:r>
            <a:endParaRPr sz="1700"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D3B45"/>
              </a:buClr>
              <a:buSzPts val="1900"/>
              <a:buChar char="❏"/>
            </a:pPr>
            <a:r>
              <a:rPr b="1" lang="en-US" sz="1900">
                <a:solidFill>
                  <a:srgbClr val="2D3B45"/>
                </a:solidFill>
                <a:highlight>
                  <a:schemeClr val="lt1"/>
                </a:highlight>
              </a:rPr>
              <a:t>Banca examinadora</a:t>
            </a:r>
            <a:br>
              <a:rPr b="1" lang="en-US" sz="1900">
                <a:solidFill>
                  <a:srgbClr val="2D3B45"/>
                </a:solidFill>
                <a:highlight>
                  <a:schemeClr val="lt1"/>
                </a:highlight>
              </a:rPr>
            </a:br>
            <a:r>
              <a:rPr i="1" lang="en-US" sz="1300">
                <a:solidFill>
                  <a:srgbClr val="595959"/>
                </a:solidFill>
                <a:highlight>
                  <a:schemeClr val="lt1"/>
                </a:highlight>
              </a:rPr>
              <a:t>- Entrega do texto científico</a:t>
            </a:r>
            <a:br>
              <a:rPr i="1" lang="en-US" sz="1300">
                <a:solidFill>
                  <a:srgbClr val="595959"/>
                </a:solidFill>
                <a:highlight>
                  <a:schemeClr val="lt1"/>
                </a:highlight>
              </a:rPr>
            </a:br>
            <a:r>
              <a:rPr i="1" lang="en-US" sz="1300">
                <a:solidFill>
                  <a:srgbClr val="595959"/>
                </a:solidFill>
                <a:highlight>
                  <a:schemeClr val="lt1"/>
                </a:highlight>
              </a:rPr>
              <a:t>- Apresentação do projeto</a:t>
            </a:r>
            <a:br>
              <a:rPr i="1" lang="en-US" sz="1300">
                <a:solidFill>
                  <a:srgbClr val="595959"/>
                </a:solidFill>
                <a:highlight>
                  <a:schemeClr val="lt1"/>
                </a:highlight>
              </a:rPr>
            </a:br>
            <a:r>
              <a:rPr i="1" lang="en-US" sz="1300">
                <a:solidFill>
                  <a:srgbClr val="595959"/>
                </a:solidFill>
                <a:highlight>
                  <a:schemeClr val="lt1"/>
                </a:highlight>
              </a:rPr>
              <a:t>- Avaliação do texto pela banca</a:t>
            </a:r>
            <a:endParaRPr i="1" sz="1300">
              <a:solidFill>
                <a:srgbClr val="595959"/>
              </a:solidFill>
              <a:highlight>
                <a:schemeClr val="lt1"/>
              </a:highlight>
            </a:endParaRPr>
          </a:p>
        </p:txBody>
      </p:sp>
      <p:sp>
        <p:nvSpPr>
          <p:cNvPr id="146" name="Google Shape;146;g3e125265ec7_0_15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e125265ec7_0_15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e125265ec7_0_15"/>
          <p:cNvSpPr txBox="1"/>
          <p:nvPr/>
        </p:nvSpPr>
        <p:spPr>
          <a:xfrm>
            <a:off x="1323348" y="6303818"/>
            <a:ext cx="425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| Apresentação da disciplina</a:t>
            </a:r>
            <a:endParaRPr/>
          </a:p>
        </p:txBody>
      </p:sp>
      <p:sp>
        <p:nvSpPr>
          <p:cNvPr id="149" name="Google Shape;149;g3e125265ec7_0_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0" name="Google Shape;150;g3e125265ec7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151" name="Google Shape;151;g3e125265ec7_0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e125265ec7_0_15"/>
          <p:cNvSpPr/>
          <p:nvPr/>
        </p:nvSpPr>
        <p:spPr>
          <a:xfrm>
            <a:off x="670425" y="1307850"/>
            <a:ext cx="10473900" cy="681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125265ec7_0_1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e125265ec7_0_1"/>
          <p:cNvSpPr txBox="1"/>
          <p:nvPr>
            <p:ph type="title"/>
          </p:nvPr>
        </p:nvSpPr>
        <p:spPr>
          <a:xfrm>
            <a:off x="391510" y="154917"/>
            <a:ext cx="105156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Sobre a disciplina</a:t>
            </a:r>
            <a:endParaRPr/>
          </a:p>
        </p:txBody>
      </p:sp>
      <p:sp>
        <p:nvSpPr>
          <p:cNvPr id="159" name="Google Shape;159;g3e125265ec7_0_1"/>
          <p:cNvSpPr txBox="1"/>
          <p:nvPr>
            <p:ph idx="1" type="body"/>
          </p:nvPr>
        </p:nvSpPr>
        <p:spPr>
          <a:xfrm>
            <a:off x="395265" y="1431487"/>
            <a:ext cx="10958400" cy="4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600"/>
              <a:t>PROJETO DE CIÊNCIA DE DADOS E INTELIGÊNCIA ARTIFICIAL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25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en-US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Ementa/módulos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e125265ec7_0_1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e125265ec7_0_1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e125265ec7_0_1"/>
          <p:cNvSpPr txBox="1"/>
          <p:nvPr/>
        </p:nvSpPr>
        <p:spPr>
          <a:xfrm>
            <a:off x="1323348" y="6303818"/>
            <a:ext cx="425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| Apresentação da disciplina</a:t>
            </a:r>
            <a:endParaRPr/>
          </a:p>
        </p:txBody>
      </p:sp>
      <p:sp>
        <p:nvSpPr>
          <p:cNvPr id="163" name="Google Shape;163;g3e125265ec7_0_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4" name="Google Shape;164;g3e125265ec7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165" name="Google Shape;165;g3e125265ec7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e125265ec7_0_1"/>
          <p:cNvSpPr txBox="1"/>
          <p:nvPr/>
        </p:nvSpPr>
        <p:spPr>
          <a:xfrm>
            <a:off x="304300" y="3066325"/>
            <a:ext cx="6022200" cy="29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514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❏"/>
            </a:pP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Módulo I (</a:t>
            </a: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dias</a:t>
            </a: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900">
                <a:solidFill>
                  <a:schemeClr val="dk1"/>
                </a:solidFill>
              </a:rPr>
              <a:t>15</a:t>
            </a: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en-US" sz="1900">
                <a:solidFill>
                  <a:schemeClr val="dk1"/>
                </a:solidFill>
              </a:rPr>
              <a:t>16</a:t>
            </a: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</a:t>
            </a:r>
            <a:r>
              <a:rPr b="1" lang="en-US" sz="1900">
                <a:solidFill>
                  <a:schemeClr val="dk1"/>
                </a:solidFill>
              </a:rPr>
              <a:t>5</a:t>
            </a: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/26)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274" lvl="1" marL="694944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❏"/>
            </a:pPr>
            <a:r>
              <a:rPr b="1" lang="en-US" sz="1500">
                <a:solidFill>
                  <a:srgbClr val="1155CC"/>
                </a:solidFill>
              </a:rPr>
              <a:t>[PITA </a:t>
            </a:r>
            <a:r>
              <a:rPr lang="en-US" sz="21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📖</a:t>
            </a:r>
            <a:r>
              <a:rPr b="1" lang="en-US" sz="1500">
                <a:solidFill>
                  <a:srgbClr val="1155CC"/>
                </a:solidFill>
              </a:rPr>
              <a:t> ]</a:t>
            </a:r>
            <a:r>
              <a:rPr lang="en-US" sz="1500">
                <a:solidFill>
                  <a:schemeClr val="dk1"/>
                </a:solidFill>
              </a:rPr>
              <a:t> </a:t>
            </a:r>
            <a:r>
              <a:rPr b="1" i="0" lang="en-US" sz="1500" cap="none" strike="noStrike">
                <a:solidFill>
                  <a:schemeClr val="dk1"/>
                </a:solidFill>
              </a:rPr>
              <a:t>Aula 1 (Fundamentos da Pesquisa Cient</a:t>
            </a:r>
            <a:r>
              <a:rPr b="1" lang="en-US" sz="1500">
                <a:solidFill>
                  <a:schemeClr val="dk1"/>
                </a:solidFill>
              </a:rPr>
              <a:t>ífica e Elaboração de Projetos</a:t>
            </a:r>
            <a:r>
              <a:rPr b="1" i="0" lang="en-US" sz="1500" cap="none" strike="noStrike">
                <a:solidFill>
                  <a:schemeClr val="dk1"/>
                </a:solidFill>
              </a:rPr>
              <a:t>):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>
                <a:solidFill>
                  <a:schemeClr val="dk1"/>
                </a:solidFill>
              </a:rPr>
              <a:t>Apresentação da disciplina; Conhecimento científico; Teoria, hipóteses e variáveis; Estrutura de um projeto de pesquisa (ABNT NBR 15287); Análise de problemas.</a:t>
            </a:r>
            <a:br>
              <a:rPr lang="en-US" sz="1500">
                <a:solidFill>
                  <a:schemeClr val="dk1"/>
                </a:solidFill>
              </a:rPr>
            </a:br>
            <a:endParaRPr/>
          </a:p>
          <a:p>
            <a:pPr indent="-287274" lvl="1" marL="694944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❏"/>
            </a:pPr>
            <a:r>
              <a:rPr b="1" lang="en-US" sz="1500">
                <a:solidFill>
                  <a:srgbClr val="3B7F23"/>
                </a:solidFill>
              </a:rPr>
              <a:t>[HÉLIO ⚙️ ]</a:t>
            </a:r>
            <a:r>
              <a:rPr b="1" lang="en-US" sz="1500">
                <a:solidFill>
                  <a:srgbClr val="C00000"/>
                </a:solidFill>
              </a:rPr>
              <a:t> </a:t>
            </a:r>
            <a:r>
              <a:rPr b="1" i="0" lang="en-US" sz="1500" cap="none" strike="noStrike">
                <a:solidFill>
                  <a:schemeClr val="dk1"/>
                </a:solidFill>
              </a:rPr>
              <a:t>Aula 2</a:t>
            </a:r>
            <a:r>
              <a:rPr b="1" lang="en-US" sz="1500">
                <a:solidFill>
                  <a:schemeClr val="dk1"/>
                </a:solidFill>
              </a:rPr>
              <a:t> (</a:t>
            </a:r>
            <a:r>
              <a:rPr b="1" lang="en-US" sz="1500">
                <a:solidFill>
                  <a:schemeClr val="dk1"/>
                </a:solidFill>
              </a:rPr>
              <a:t>Estudo de Caso – Projeto de ML de Ponta a Ponta</a:t>
            </a:r>
            <a:r>
              <a:rPr b="1" lang="en-US" sz="1500">
                <a:solidFill>
                  <a:schemeClr val="dk1"/>
                </a:solidFill>
              </a:rPr>
              <a:t>):</a:t>
            </a:r>
            <a:r>
              <a:rPr lang="en-US" sz="1500">
                <a:solidFill>
                  <a:schemeClr val="dk1"/>
                </a:solidFill>
              </a:rPr>
              <a:t> apresentação do estudo de caso ilustrativo, definição do problema. Coleta, tratamento e análise exploratória dos dados.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e125265ec7_0_1"/>
          <p:cNvSpPr txBox="1"/>
          <p:nvPr/>
        </p:nvSpPr>
        <p:spPr>
          <a:xfrm>
            <a:off x="5919850" y="3066325"/>
            <a:ext cx="5718900" cy="27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97155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❏"/>
            </a:pPr>
            <a:r>
              <a:rPr b="1" lang="en-US" sz="1500">
                <a:solidFill>
                  <a:srgbClr val="3B7F23"/>
                </a:solidFill>
              </a:rPr>
              <a:t>[HÉLIO ⚙️ ] </a:t>
            </a:r>
            <a:r>
              <a:rPr b="1" i="0" lang="en-US" sz="1500" cap="none" strike="noStrike">
                <a:solidFill>
                  <a:schemeClr val="dk1"/>
                </a:solidFill>
              </a:rPr>
              <a:t>Aula </a:t>
            </a:r>
            <a:r>
              <a:rPr b="1" lang="en-US" sz="1500">
                <a:solidFill>
                  <a:schemeClr val="dk1"/>
                </a:solidFill>
              </a:rPr>
              <a:t>3 (</a:t>
            </a:r>
            <a:r>
              <a:rPr b="1" lang="en-US" sz="1500">
                <a:solidFill>
                  <a:schemeClr val="dk1"/>
                </a:solidFill>
              </a:rPr>
              <a:t>Estudo de Caso – Projeto de ML de Ponta a Ponta</a:t>
            </a:r>
            <a:r>
              <a:rPr b="1" lang="en-US" sz="1500">
                <a:solidFill>
                  <a:schemeClr val="dk1"/>
                </a:solidFill>
              </a:rPr>
              <a:t>)</a:t>
            </a:r>
            <a:r>
              <a:rPr b="1" i="0" lang="en-US" sz="1500" cap="none" strike="noStrike">
                <a:solidFill>
                  <a:schemeClr val="dk1"/>
                </a:solidFill>
              </a:rPr>
              <a:t>:</a:t>
            </a:r>
            <a:r>
              <a:rPr b="0" i="0" lang="en-US" sz="1500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>
                <a:solidFill>
                  <a:schemeClr val="dk1"/>
                </a:solidFill>
              </a:rPr>
              <a:t>Pipeline de Machine Learning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9715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❏"/>
            </a:pPr>
            <a:r>
              <a:rPr b="1" lang="en-US" sz="1500">
                <a:solidFill>
                  <a:srgbClr val="1155CC"/>
                </a:solidFill>
              </a:rPr>
              <a:t>[PITA </a:t>
            </a:r>
            <a:r>
              <a:rPr lang="en-US" sz="21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📖</a:t>
            </a:r>
            <a:r>
              <a:rPr b="1" lang="en-US" sz="1500">
                <a:solidFill>
                  <a:srgbClr val="1155CC"/>
                </a:solidFill>
              </a:rPr>
              <a:t> ]</a:t>
            </a:r>
            <a:r>
              <a:rPr lang="en-US" sz="1500">
                <a:solidFill>
                  <a:schemeClr val="dk1"/>
                </a:solidFill>
              </a:rPr>
              <a:t> </a:t>
            </a:r>
            <a:r>
              <a:rPr b="1" i="0" lang="en-US" sz="1500" cap="none" strike="noStrike">
                <a:solidFill>
                  <a:schemeClr val="dk1"/>
                </a:solidFill>
              </a:rPr>
              <a:t>Aula </a:t>
            </a:r>
            <a:r>
              <a:rPr b="1" lang="en-US" sz="1500">
                <a:solidFill>
                  <a:schemeClr val="dk1"/>
                </a:solidFill>
              </a:rPr>
              <a:t>4 </a:t>
            </a:r>
            <a:r>
              <a:rPr b="1" lang="en-US" sz="1500">
                <a:solidFill>
                  <a:schemeClr val="dk1"/>
                </a:solidFill>
              </a:rPr>
              <a:t>(Fundamentos da Pesquisa Científica e Elaboração de Projetos)</a:t>
            </a:r>
            <a:r>
              <a:rPr b="1" i="0" lang="en-US" sz="1500" cap="none" strike="noStrike">
                <a:solidFill>
                  <a:schemeClr val="dk1"/>
                </a:solidFill>
              </a:rPr>
              <a:t>: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>
                <a:solidFill>
                  <a:schemeClr val="dk1"/>
                </a:solidFill>
              </a:rPr>
              <a:t>Estruturação do pré-projeto: definição do tema, problema de pesquisa, hipóteses e objetivos (geral e específicos); orientações sobre justificativa e referencial teórico ou técnico-normativo</a:t>
            </a:r>
            <a:endParaRPr/>
          </a:p>
        </p:txBody>
      </p:sp>
      <p:sp>
        <p:nvSpPr>
          <p:cNvPr id="168" name="Google Shape;168;g3e125265ec7_0_1"/>
          <p:cNvSpPr/>
          <p:nvPr/>
        </p:nvSpPr>
        <p:spPr>
          <a:xfrm>
            <a:off x="670425" y="1307850"/>
            <a:ext cx="10473900" cy="681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125265ec7_0_105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e125265ec7_0_105"/>
          <p:cNvSpPr txBox="1"/>
          <p:nvPr>
            <p:ph type="title"/>
          </p:nvPr>
        </p:nvSpPr>
        <p:spPr>
          <a:xfrm>
            <a:off x="391510" y="154917"/>
            <a:ext cx="105156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Sobre a disciplina</a:t>
            </a:r>
            <a:endParaRPr/>
          </a:p>
        </p:txBody>
      </p:sp>
      <p:sp>
        <p:nvSpPr>
          <p:cNvPr id="175" name="Google Shape;175;g3e125265ec7_0_105"/>
          <p:cNvSpPr txBox="1"/>
          <p:nvPr>
            <p:ph idx="1" type="body"/>
          </p:nvPr>
        </p:nvSpPr>
        <p:spPr>
          <a:xfrm>
            <a:off x="395275" y="1431475"/>
            <a:ext cx="109584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600"/>
              <a:t>PROJETO DE CIÊNCIA DE DADOS E INTELIGÊNCIA ARTIFICIAL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25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en-US">
                <a:solidFill>
                  <a:srgbClr val="3A7D22"/>
                </a:solidFill>
              </a:rPr>
              <a:t>Exercício para ser realizado entre os módulos I e I</a:t>
            </a:r>
            <a:r>
              <a:rPr b="1" lang="en-US">
                <a:solidFill>
                  <a:srgbClr val="3A7D22"/>
                </a:solidFill>
              </a:rPr>
              <a:t>I</a:t>
            </a:r>
            <a:endParaRPr sz="1900">
              <a:solidFill>
                <a:srgbClr val="3A7D22"/>
              </a:solidFill>
              <a:highlight>
                <a:schemeClr val="lt1"/>
              </a:highlight>
            </a:endParaRPr>
          </a:p>
          <a:p>
            <a:pPr indent="-321818" lvl="1" marL="77724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2D3B45"/>
              </a:buClr>
              <a:buSzPts val="1900"/>
              <a:buChar char="•"/>
            </a:pPr>
            <a:r>
              <a:rPr lang="en-US" sz="1900">
                <a:solidFill>
                  <a:srgbClr val="2D3B45"/>
                </a:solidFill>
                <a:highlight>
                  <a:schemeClr val="lt1"/>
                </a:highlight>
              </a:rPr>
              <a:t>Definir </a:t>
            </a:r>
            <a:r>
              <a:rPr b="1" lang="en-US" sz="1900">
                <a:solidFill>
                  <a:srgbClr val="2D3B45"/>
                </a:solidFill>
                <a:highlight>
                  <a:schemeClr val="lt1"/>
                </a:highlight>
              </a:rPr>
              <a:t>tema</a:t>
            </a:r>
            <a:r>
              <a:rPr lang="en-US" sz="1900">
                <a:solidFill>
                  <a:srgbClr val="2D3B45"/>
                </a:solidFill>
                <a:highlight>
                  <a:schemeClr val="lt1"/>
                </a:highlight>
              </a:rPr>
              <a:t> de pesquisa (geral)</a:t>
            </a:r>
            <a:endParaRPr sz="1900">
              <a:solidFill>
                <a:srgbClr val="2D3B45"/>
              </a:solidFill>
              <a:highlight>
                <a:schemeClr val="lt1"/>
              </a:highlight>
            </a:endParaRPr>
          </a:p>
          <a:p>
            <a:pPr indent="-321818" lvl="1" marL="77724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900"/>
              <a:buChar char="•"/>
            </a:pPr>
            <a:r>
              <a:rPr lang="en-US" sz="1900">
                <a:solidFill>
                  <a:srgbClr val="2D3B45"/>
                </a:solidFill>
                <a:highlight>
                  <a:schemeClr val="lt1"/>
                </a:highlight>
              </a:rPr>
              <a:t>Definir </a:t>
            </a:r>
            <a:r>
              <a:rPr b="1" lang="en-US" sz="1900">
                <a:solidFill>
                  <a:srgbClr val="2D3B45"/>
                </a:solidFill>
                <a:highlight>
                  <a:schemeClr val="lt1"/>
                </a:highlight>
              </a:rPr>
              <a:t>problema</a:t>
            </a:r>
            <a:r>
              <a:rPr lang="en-US" sz="1900">
                <a:solidFill>
                  <a:srgbClr val="2D3B45"/>
                </a:solidFill>
                <a:highlight>
                  <a:schemeClr val="lt1"/>
                </a:highlight>
              </a:rPr>
              <a:t> de pesquisa (específico)</a:t>
            </a:r>
            <a:endParaRPr sz="1900">
              <a:solidFill>
                <a:srgbClr val="2D3B45"/>
              </a:solidFill>
              <a:highlight>
                <a:schemeClr val="lt1"/>
              </a:highlight>
            </a:endParaRPr>
          </a:p>
          <a:p>
            <a:pPr indent="-321818" lvl="1" marL="77724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900"/>
              <a:buChar char="•"/>
            </a:pPr>
            <a:r>
              <a:rPr lang="en-US" sz="1900">
                <a:solidFill>
                  <a:srgbClr val="2D3B45"/>
                </a:solidFill>
                <a:highlight>
                  <a:schemeClr val="lt1"/>
                </a:highlight>
              </a:rPr>
              <a:t>Definir </a:t>
            </a:r>
            <a:r>
              <a:rPr b="1" lang="en-US" sz="1900">
                <a:solidFill>
                  <a:srgbClr val="2D3B45"/>
                </a:solidFill>
                <a:highlight>
                  <a:schemeClr val="lt1"/>
                </a:highlight>
              </a:rPr>
              <a:t>objetivo geral</a:t>
            </a:r>
            <a:endParaRPr b="1" sz="1900">
              <a:solidFill>
                <a:srgbClr val="2D3B45"/>
              </a:solidFill>
              <a:highlight>
                <a:schemeClr val="lt1"/>
              </a:highlight>
            </a:endParaRPr>
          </a:p>
          <a:p>
            <a:pPr indent="-321818" lvl="1" marL="77724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900"/>
              <a:buChar char="•"/>
            </a:pPr>
            <a:r>
              <a:rPr lang="en-US" sz="1900">
                <a:solidFill>
                  <a:srgbClr val="2D3B45"/>
                </a:solidFill>
                <a:highlight>
                  <a:schemeClr val="lt1"/>
                </a:highlight>
              </a:rPr>
              <a:t>Definir </a:t>
            </a:r>
            <a:r>
              <a:rPr b="1" lang="en-US" sz="1900">
                <a:solidFill>
                  <a:srgbClr val="2D3B45"/>
                </a:solidFill>
                <a:highlight>
                  <a:schemeClr val="lt1"/>
                </a:highlight>
              </a:rPr>
              <a:t>objetivos específicos</a:t>
            </a:r>
            <a:endParaRPr b="1" sz="1900">
              <a:solidFill>
                <a:srgbClr val="2D3B45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2D3B45"/>
              </a:solidFill>
              <a:highlight>
                <a:schemeClr val="lt1"/>
              </a:highlight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-US" sz="2300">
                <a:solidFill>
                  <a:srgbClr val="C00000"/>
                </a:solidFill>
                <a:highlight>
                  <a:srgbClr val="FFF2CC"/>
                </a:highlight>
              </a:rPr>
              <a:t>Data da entrega: 23/05/26</a:t>
            </a:r>
            <a:endParaRPr b="1" sz="2300">
              <a:solidFill>
                <a:srgbClr val="C00000"/>
              </a:solidFill>
              <a:highlight>
                <a:srgbClr val="FFF2CC"/>
              </a:highlight>
            </a:endParaRPr>
          </a:p>
        </p:txBody>
      </p:sp>
      <p:sp>
        <p:nvSpPr>
          <p:cNvPr id="176" name="Google Shape;176;g3e125265ec7_0_105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e125265ec7_0_105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e125265ec7_0_105"/>
          <p:cNvSpPr txBox="1"/>
          <p:nvPr/>
        </p:nvSpPr>
        <p:spPr>
          <a:xfrm>
            <a:off x="1323348" y="6303818"/>
            <a:ext cx="425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| Apresentação da disciplina</a:t>
            </a:r>
            <a:endParaRPr/>
          </a:p>
        </p:txBody>
      </p:sp>
      <p:sp>
        <p:nvSpPr>
          <p:cNvPr id="179" name="Google Shape;179;g3e125265ec7_0_10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0" name="Google Shape;180;g3e125265ec7_0_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181" name="Google Shape;181;g3e125265ec7_0_1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e125265ec7_0_105"/>
          <p:cNvSpPr/>
          <p:nvPr/>
        </p:nvSpPr>
        <p:spPr>
          <a:xfrm>
            <a:off x="670425" y="1307850"/>
            <a:ext cx="10473900" cy="681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e125265ec7_0_105"/>
          <p:cNvSpPr txBox="1"/>
          <p:nvPr/>
        </p:nvSpPr>
        <p:spPr>
          <a:xfrm>
            <a:off x="6517300" y="3191388"/>
            <a:ext cx="5022600" cy="47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3300000" dist="7620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Monitoria Prof. Clayton Rodrigues (a agendar)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125265ec7_0_63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e125265ec7_0_63"/>
          <p:cNvSpPr txBox="1"/>
          <p:nvPr>
            <p:ph type="title"/>
          </p:nvPr>
        </p:nvSpPr>
        <p:spPr>
          <a:xfrm>
            <a:off x="391510" y="154917"/>
            <a:ext cx="105156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Sobre a disciplina</a:t>
            </a:r>
            <a:endParaRPr/>
          </a:p>
        </p:txBody>
      </p:sp>
      <p:sp>
        <p:nvSpPr>
          <p:cNvPr id="190" name="Google Shape;190;g3e125265ec7_0_63"/>
          <p:cNvSpPr txBox="1"/>
          <p:nvPr>
            <p:ph idx="1" type="body"/>
          </p:nvPr>
        </p:nvSpPr>
        <p:spPr>
          <a:xfrm>
            <a:off x="395265" y="1431487"/>
            <a:ext cx="10958400" cy="4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600"/>
              <a:t>PROJETO DE CIÊNCIA DE DADOS E INTELIGÊNCIA ARTIFICIAL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25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en-US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Ementa/módulos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e125265ec7_0_63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e125265ec7_0_63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e125265ec7_0_63"/>
          <p:cNvSpPr txBox="1"/>
          <p:nvPr/>
        </p:nvSpPr>
        <p:spPr>
          <a:xfrm>
            <a:off x="1323348" y="6303818"/>
            <a:ext cx="425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| Apresentação da disciplina</a:t>
            </a:r>
            <a:endParaRPr/>
          </a:p>
        </p:txBody>
      </p:sp>
      <p:sp>
        <p:nvSpPr>
          <p:cNvPr id="194" name="Google Shape;194;g3e125265ec7_0_6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5" name="Google Shape;195;g3e125265ec7_0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196" name="Google Shape;196;g3e125265ec7_0_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e125265ec7_0_63"/>
          <p:cNvSpPr txBox="1"/>
          <p:nvPr/>
        </p:nvSpPr>
        <p:spPr>
          <a:xfrm>
            <a:off x="304300" y="3066325"/>
            <a:ext cx="6960300" cy="29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514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❏"/>
            </a:pP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Módulo II (dias </a:t>
            </a:r>
            <a:r>
              <a:rPr b="1" lang="en-US" sz="1900">
                <a:solidFill>
                  <a:schemeClr val="dk1"/>
                </a:solidFill>
              </a:rPr>
              <a:t>29</a:t>
            </a: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en-US" sz="1900">
                <a:solidFill>
                  <a:schemeClr val="dk1"/>
                </a:solidFill>
              </a:rPr>
              <a:t>30</a:t>
            </a: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</a:t>
            </a:r>
            <a:r>
              <a:rPr b="1" lang="en-US" sz="1900">
                <a:solidFill>
                  <a:schemeClr val="dk1"/>
                </a:solidFill>
              </a:rPr>
              <a:t>5</a:t>
            </a: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/26)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274" lvl="1" marL="694944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❏"/>
            </a:pPr>
            <a:r>
              <a:rPr b="1" lang="en-US" sz="1500">
                <a:solidFill>
                  <a:srgbClr val="1155CC"/>
                </a:solidFill>
              </a:rPr>
              <a:t>[PITA </a:t>
            </a:r>
            <a:r>
              <a:rPr lang="en-US" sz="21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📖</a:t>
            </a:r>
            <a:r>
              <a:rPr b="1" lang="en-US" sz="1500">
                <a:solidFill>
                  <a:srgbClr val="1155CC"/>
                </a:solidFill>
              </a:rPr>
              <a:t> ]</a:t>
            </a:r>
            <a:r>
              <a:rPr lang="en-US" sz="1500">
                <a:solidFill>
                  <a:schemeClr val="dk1"/>
                </a:solidFill>
              </a:rPr>
              <a:t> </a:t>
            </a:r>
            <a:r>
              <a:rPr b="1" i="0" lang="en-US" sz="1500" cap="none" strike="noStrike">
                <a:solidFill>
                  <a:schemeClr val="dk1"/>
                </a:solidFill>
              </a:rPr>
              <a:t>Aula </a:t>
            </a:r>
            <a:r>
              <a:rPr b="1" lang="en-US" sz="1500">
                <a:solidFill>
                  <a:schemeClr val="dk1"/>
                </a:solidFill>
              </a:rPr>
              <a:t>5</a:t>
            </a:r>
            <a:r>
              <a:rPr b="1" i="0" lang="en-US" sz="1500" cap="none" strike="noStrike">
                <a:solidFill>
                  <a:schemeClr val="dk1"/>
                </a:solidFill>
              </a:rPr>
              <a:t> (</a:t>
            </a:r>
            <a:r>
              <a:rPr b="1" lang="en-US" sz="1500">
                <a:solidFill>
                  <a:schemeClr val="dk1"/>
                </a:solidFill>
              </a:rPr>
              <a:t>Metodologias de Pesquisa, ABNT e IA</a:t>
            </a:r>
            <a:r>
              <a:rPr b="1" i="0" lang="en-US" sz="1500" cap="none" strike="noStrike">
                <a:solidFill>
                  <a:schemeClr val="dk1"/>
                </a:solidFill>
              </a:rPr>
              <a:t>):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>
                <a:solidFill>
                  <a:schemeClr val="dk1"/>
                </a:solidFill>
              </a:rPr>
              <a:t>Métodos e técnicas (quali, quanti e mistos); Estratégias de pesquisa (estudo de caso, análise documental, survey); Normas ABNT NBR 10520 (citações) e NBR 6023 (referências); Uso ético e transparente de IA na pesquisa acadêmica.</a:t>
            </a:r>
            <a:br>
              <a:rPr lang="en-US" sz="1500">
                <a:solidFill>
                  <a:schemeClr val="dk1"/>
                </a:solidFill>
              </a:rPr>
            </a:br>
            <a:endParaRPr/>
          </a:p>
          <a:p>
            <a:pPr indent="-287274" lvl="1" marL="694944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❏"/>
            </a:pPr>
            <a:r>
              <a:rPr b="1" lang="en-US" sz="1500">
                <a:solidFill>
                  <a:srgbClr val="3B7F23"/>
                </a:solidFill>
              </a:rPr>
              <a:t>[HÉLIO ⚙️ ]</a:t>
            </a:r>
            <a:r>
              <a:rPr b="1" lang="en-US" sz="1500">
                <a:solidFill>
                  <a:srgbClr val="C00000"/>
                </a:solidFill>
              </a:rPr>
              <a:t> </a:t>
            </a:r>
            <a:r>
              <a:rPr b="1" i="0" lang="en-US" sz="1500" cap="none" strike="noStrike">
                <a:solidFill>
                  <a:schemeClr val="dk1"/>
                </a:solidFill>
              </a:rPr>
              <a:t>Aula </a:t>
            </a:r>
            <a:r>
              <a:rPr b="1" lang="en-US" sz="1500">
                <a:solidFill>
                  <a:schemeClr val="dk1"/>
                </a:solidFill>
              </a:rPr>
              <a:t>6</a:t>
            </a:r>
            <a:r>
              <a:rPr b="1" lang="en-US" sz="1500">
                <a:solidFill>
                  <a:schemeClr val="dk1"/>
                </a:solidFill>
              </a:rPr>
              <a:t> (</a:t>
            </a:r>
            <a:r>
              <a:rPr b="1" lang="en-US" sz="1500">
                <a:solidFill>
                  <a:schemeClr val="dk1"/>
                </a:solidFill>
              </a:rPr>
              <a:t>Laboratório Orientado – </a:t>
            </a:r>
            <a:r>
              <a:rPr b="1" lang="en-US" sz="1500">
                <a:solidFill>
                  <a:schemeClr val="dk1"/>
                </a:solidFill>
              </a:rPr>
              <a:t>Apoio individual ao desenvolvimento do projeto</a:t>
            </a:r>
            <a:r>
              <a:rPr b="1" lang="en-US" sz="1500">
                <a:solidFill>
                  <a:schemeClr val="dk1"/>
                </a:solidFill>
              </a:rPr>
              <a:t>):</a:t>
            </a:r>
            <a:r>
              <a:rPr lang="en-US" sz="1500">
                <a:solidFill>
                  <a:schemeClr val="dk1"/>
                </a:solidFill>
              </a:rPr>
              <a:t> Definição da estratégia metodológica; Coleta de dados; Ferra- mentas de análise; Progressão das seções 5 (Justificativa) e 7 (Metodologia) do pré-projeto.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e125265ec7_0_63"/>
          <p:cNvSpPr txBox="1"/>
          <p:nvPr/>
        </p:nvSpPr>
        <p:spPr>
          <a:xfrm>
            <a:off x="6581925" y="3066325"/>
            <a:ext cx="5610000" cy="29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97155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❏"/>
            </a:pPr>
            <a:r>
              <a:rPr b="1" lang="en-US" sz="1500">
                <a:solidFill>
                  <a:srgbClr val="3B7F23"/>
                </a:solidFill>
              </a:rPr>
              <a:t>[HÉLIO ⚙️ ] </a:t>
            </a:r>
            <a:r>
              <a:rPr b="1" i="0" lang="en-US" sz="1500" cap="none" strike="noStrike">
                <a:solidFill>
                  <a:schemeClr val="dk1"/>
                </a:solidFill>
              </a:rPr>
              <a:t>Aula </a:t>
            </a:r>
            <a:r>
              <a:rPr b="1" lang="en-US" sz="1500">
                <a:solidFill>
                  <a:schemeClr val="dk1"/>
                </a:solidFill>
              </a:rPr>
              <a:t>7</a:t>
            </a:r>
            <a:r>
              <a:rPr b="1" lang="en-US" sz="1500">
                <a:solidFill>
                  <a:schemeClr val="dk1"/>
                </a:solidFill>
              </a:rPr>
              <a:t> (</a:t>
            </a:r>
            <a:r>
              <a:rPr b="1" lang="en-US" sz="1500">
                <a:solidFill>
                  <a:schemeClr val="dk1"/>
                </a:solidFill>
              </a:rPr>
              <a:t>Laboratório Orientado</a:t>
            </a:r>
            <a:r>
              <a:rPr b="1" lang="en-US" sz="1500">
                <a:solidFill>
                  <a:schemeClr val="dk1"/>
                </a:solidFill>
              </a:rPr>
              <a:t>)</a:t>
            </a:r>
            <a:r>
              <a:rPr b="1" i="0" lang="en-US" sz="1500" cap="none" strike="noStrike">
                <a:solidFill>
                  <a:schemeClr val="dk1"/>
                </a:solidFill>
              </a:rPr>
              <a:t>:</a:t>
            </a:r>
            <a:r>
              <a:rPr b="0" i="0" lang="en-US" sz="1500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>
                <a:solidFill>
                  <a:schemeClr val="dk1"/>
                </a:solidFill>
              </a:rPr>
              <a:t>Aprofundamento na análise de dados; Aplicação das técnicas escolhidas; Discussão sobre as Ferramentas de Análise (seção 7.3 do pré-projeto).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9715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❏"/>
            </a:pPr>
            <a:r>
              <a:rPr b="1" lang="en-US" sz="1500">
                <a:solidFill>
                  <a:srgbClr val="1155CC"/>
                </a:solidFill>
              </a:rPr>
              <a:t>[PITA </a:t>
            </a:r>
            <a:r>
              <a:rPr lang="en-US" sz="21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📖</a:t>
            </a:r>
            <a:r>
              <a:rPr b="1" lang="en-US" sz="1500">
                <a:solidFill>
                  <a:srgbClr val="1155CC"/>
                </a:solidFill>
              </a:rPr>
              <a:t> ]</a:t>
            </a:r>
            <a:r>
              <a:rPr lang="en-US" sz="1500">
                <a:solidFill>
                  <a:schemeClr val="dk1"/>
                </a:solidFill>
              </a:rPr>
              <a:t> </a:t>
            </a:r>
            <a:r>
              <a:rPr b="1" i="0" lang="en-US" sz="1500" cap="none" strike="noStrike">
                <a:solidFill>
                  <a:schemeClr val="dk1"/>
                </a:solidFill>
              </a:rPr>
              <a:t>Aula </a:t>
            </a:r>
            <a:r>
              <a:rPr b="1" lang="en-US" sz="1500">
                <a:solidFill>
                  <a:schemeClr val="dk1"/>
                </a:solidFill>
              </a:rPr>
              <a:t>8</a:t>
            </a:r>
            <a:r>
              <a:rPr b="1" lang="en-US" sz="1500">
                <a:solidFill>
                  <a:schemeClr val="dk1"/>
                </a:solidFill>
              </a:rPr>
              <a:t> (</a:t>
            </a:r>
            <a:r>
              <a:rPr b="1" lang="en-US" sz="1500">
                <a:solidFill>
                  <a:schemeClr val="dk1"/>
                </a:solidFill>
              </a:rPr>
              <a:t>Laboratório Orientado – Apoio à escrita científica</a:t>
            </a:r>
            <a:r>
              <a:rPr b="1" lang="en-US" sz="1500">
                <a:solidFill>
                  <a:schemeClr val="dk1"/>
                </a:solidFill>
              </a:rPr>
              <a:t>)</a:t>
            </a:r>
            <a:r>
              <a:rPr b="1" i="0" lang="en-US" sz="1500" cap="none" strike="noStrike">
                <a:solidFill>
                  <a:schemeClr val="dk1"/>
                </a:solidFill>
              </a:rPr>
              <a:t>: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>
                <a:solidFill>
                  <a:schemeClr val="dk1"/>
                </a:solidFill>
              </a:rPr>
              <a:t>revisão da literatura, construção do Referencial Teórico ou Técnico-Normativo (seção 6) e da seção de Metodologia (seções 7.1 e 7.2) do pré-projeto.</a:t>
            </a:r>
            <a:endParaRPr/>
          </a:p>
        </p:txBody>
      </p:sp>
      <p:sp>
        <p:nvSpPr>
          <p:cNvPr id="199" name="Google Shape;199;g3e125265ec7_0_63"/>
          <p:cNvSpPr/>
          <p:nvPr/>
        </p:nvSpPr>
        <p:spPr>
          <a:xfrm>
            <a:off x="670425" y="1307850"/>
            <a:ext cx="10473900" cy="681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125265ec7_0_120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e125265ec7_0_120"/>
          <p:cNvSpPr txBox="1"/>
          <p:nvPr>
            <p:ph type="title"/>
          </p:nvPr>
        </p:nvSpPr>
        <p:spPr>
          <a:xfrm>
            <a:off x="391510" y="154917"/>
            <a:ext cx="105156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Sobre a disciplina</a:t>
            </a:r>
            <a:endParaRPr/>
          </a:p>
        </p:txBody>
      </p:sp>
      <p:sp>
        <p:nvSpPr>
          <p:cNvPr id="206" name="Google Shape;206;g3e125265ec7_0_120"/>
          <p:cNvSpPr txBox="1"/>
          <p:nvPr>
            <p:ph idx="1" type="body"/>
          </p:nvPr>
        </p:nvSpPr>
        <p:spPr>
          <a:xfrm>
            <a:off x="395275" y="1431475"/>
            <a:ext cx="109584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600"/>
              <a:t>PROJETO DE CIÊNCIA DE DADOS E INTELIGÊNCIA ARTIFICIAL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25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en-US">
                <a:solidFill>
                  <a:srgbClr val="3A7D22"/>
                </a:solidFill>
              </a:rPr>
              <a:t>Exercício para ser realizado entre os módulos II e III</a:t>
            </a:r>
            <a:endParaRPr sz="1900">
              <a:solidFill>
                <a:srgbClr val="3A7D22"/>
              </a:solidFill>
              <a:highlight>
                <a:schemeClr val="lt1"/>
              </a:highlight>
            </a:endParaRPr>
          </a:p>
          <a:p>
            <a:pPr indent="-321818" lvl="1" marL="77724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2D3B45"/>
              </a:buClr>
              <a:buSzPts val="1900"/>
              <a:buChar char="•"/>
            </a:pPr>
            <a:r>
              <a:rPr lang="en-US" sz="1900">
                <a:solidFill>
                  <a:srgbClr val="2D3B45"/>
                </a:solidFill>
                <a:highlight>
                  <a:schemeClr val="lt1"/>
                </a:highlight>
              </a:rPr>
              <a:t>Escrita das </a:t>
            </a:r>
            <a:r>
              <a:rPr b="1" lang="en-US" sz="1900">
                <a:solidFill>
                  <a:srgbClr val="2D3B45"/>
                </a:solidFill>
                <a:highlight>
                  <a:schemeClr val="lt1"/>
                </a:highlight>
              </a:rPr>
              <a:t>seções de 1 a 7 do pré-projeto</a:t>
            </a:r>
            <a:endParaRPr b="1" sz="1900">
              <a:solidFill>
                <a:srgbClr val="2D3B45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2D3B45"/>
              </a:solidFill>
              <a:highlight>
                <a:schemeClr val="lt1"/>
              </a:highlight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-US" sz="2300">
                <a:solidFill>
                  <a:srgbClr val="C00000"/>
                </a:solidFill>
                <a:highlight>
                  <a:srgbClr val="FFF2CC"/>
                </a:highlight>
              </a:rPr>
              <a:t>Data da entrega: 12/06/26</a:t>
            </a:r>
            <a:endParaRPr b="1" sz="2300">
              <a:solidFill>
                <a:srgbClr val="C00000"/>
              </a:solidFill>
              <a:highlight>
                <a:srgbClr val="FFF2CC"/>
              </a:highlight>
            </a:endParaRPr>
          </a:p>
        </p:txBody>
      </p:sp>
      <p:sp>
        <p:nvSpPr>
          <p:cNvPr id="207" name="Google Shape;207;g3e125265ec7_0_120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e125265ec7_0_120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e125265ec7_0_120"/>
          <p:cNvSpPr txBox="1"/>
          <p:nvPr/>
        </p:nvSpPr>
        <p:spPr>
          <a:xfrm>
            <a:off x="1323348" y="6303818"/>
            <a:ext cx="425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| Apresentação da disciplina</a:t>
            </a:r>
            <a:endParaRPr/>
          </a:p>
        </p:txBody>
      </p:sp>
      <p:sp>
        <p:nvSpPr>
          <p:cNvPr id="210" name="Google Shape;210;g3e125265ec7_0_1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1" name="Google Shape;211;g3e125265ec7_0_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212" name="Google Shape;212;g3e125265ec7_0_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3e125265ec7_0_120"/>
          <p:cNvSpPr/>
          <p:nvPr/>
        </p:nvSpPr>
        <p:spPr>
          <a:xfrm>
            <a:off x="670425" y="1307850"/>
            <a:ext cx="10473900" cy="681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e125265ec7_0_120"/>
          <p:cNvSpPr txBox="1"/>
          <p:nvPr/>
        </p:nvSpPr>
        <p:spPr>
          <a:xfrm>
            <a:off x="6517300" y="3191388"/>
            <a:ext cx="5022600" cy="47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3300000" dist="7620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Monitoria Prof. Clayton Rodrigues (a agendar)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125265ec7_0_135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e125265ec7_0_135"/>
          <p:cNvSpPr txBox="1"/>
          <p:nvPr>
            <p:ph type="title"/>
          </p:nvPr>
        </p:nvSpPr>
        <p:spPr>
          <a:xfrm>
            <a:off x="391510" y="154917"/>
            <a:ext cx="105156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Sobre a disciplina</a:t>
            </a:r>
            <a:endParaRPr/>
          </a:p>
        </p:txBody>
      </p:sp>
      <p:sp>
        <p:nvSpPr>
          <p:cNvPr id="221" name="Google Shape;221;g3e125265ec7_0_135"/>
          <p:cNvSpPr txBox="1"/>
          <p:nvPr>
            <p:ph idx="1" type="body"/>
          </p:nvPr>
        </p:nvSpPr>
        <p:spPr>
          <a:xfrm>
            <a:off x="395265" y="1431487"/>
            <a:ext cx="10958400" cy="4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600"/>
              <a:t>PROJETO DE CIÊNCIA DE DADOS E INTELIGÊNCIA ARTIFICIAL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25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en-US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Ementa/módulos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e125265ec7_0_135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e125265ec7_0_135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e125265ec7_0_135"/>
          <p:cNvSpPr txBox="1"/>
          <p:nvPr/>
        </p:nvSpPr>
        <p:spPr>
          <a:xfrm>
            <a:off x="1323348" y="6303818"/>
            <a:ext cx="425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| Apresentação da disciplina</a:t>
            </a:r>
            <a:endParaRPr/>
          </a:p>
        </p:txBody>
      </p:sp>
      <p:sp>
        <p:nvSpPr>
          <p:cNvPr id="225" name="Google Shape;225;g3e125265ec7_0_1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6" name="Google Shape;226;g3e125265ec7_0_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227" name="Google Shape;227;g3e125265ec7_0_1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3e125265ec7_0_135"/>
          <p:cNvSpPr txBox="1"/>
          <p:nvPr/>
        </p:nvSpPr>
        <p:spPr>
          <a:xfrm>
            <a:off x="304300" y="3066325"/>
            <a:ext cx="6168900" cy="27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514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❏"/>
            </a:pP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Módulo III (dias </a:t>
            </a:r>
            <a:r>
              <a:rPr b="1" lang="en-US" sz="1900">
                <a:solidFill>
                  <a:schemeClr val="dk1"/>
                </a:solidFill>
              </a:rPr>
              <a:t>12</a:t>
            </a: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en-US" sz="1900">
                <a:solidFill>
                  <a:schemeClr val="dk1"/>
                </a:solidFill>
              </a:rPr>
              <a:t>13</a:t>
            </a: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</a:t>
            </a:r>
            <a:r>
              <a:rPr b="1" lang="en-US" sz="1900">
                <a:solidFill>
                  <a:schemeClr val="dk1"/>
                </a:solidFill>
              </a:rPr>
              <a:t>6</a:t>
            </a: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/26)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274" lvl="1" marL="694944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❏"/>
            </a:pPr>
            <a:r>
              <a:rPr b="1" lang="en-US" sz="1500">
                <a:solidFill>
                  <a:srgbClr val="3B7F23"/>
                </a:solidFill>
              </a:rPr>
              <a:t>[HÉLIO ⚙️ ]</a:t>
            </a:r>
            <a:r>
              <a:rPr b="1" lang="en-US" sz="1500">
                <a:solidFill>
                  <a:srgbClr val="C00000"/>
                </a:solidFill>
              </a:rPr>
              <a:t> </a:t>
            </a:r>
            <a:r>
              <a:rPr b="1" i="0" lang="en-US" sz="1500" cap="none" strike="noStrike">
                <a:solidFill>
                  <a:schemeClr val="dk1"/>
                </a:solidFill>
              </a:rPr>
              <a:t>Aula </a:t>
            </a:r>
            <a:r>
              <a:rPr b="1" lang="en-US" sz="1500">
                <a:solidFill>
                  <a:schemeClr val="dk1"/>
                </a:solidFill>
              </a:rPr>
              <a:t>9</a:t>
            </a:r>
            <a:r>
              <a:rPr b="1" i="0" lang="en-US" sz="1500" cap="none" strike="noStrike">
                <a:solidFill>
                  <a:schemeClr val="dk1"/>
                </a:solidFill>
              </a:rPr>
              <a:t> (</a:t>
            </a:r>
            <a:r>
              <a:rPr b="1" lang="en-US" sz="1500">
                <a:solidFill>
                  <a:schemeClr val="dk1"/>
                </a:solidFill>
              </a:rPr>
              <a:t>Laboratório Orientado – Consolidação do Projeto</a:t>
            </a:r>
            <a:r>
              <a:rPr b="1" i="0" lang="en-US" sz="1500" cap="none" strike="noStrike">
                <a:solidFill>
                  <a:schemeClr val="dk1"/>
                </a:solidFill>
              </a:rPr>
              <a:t>): </a:t>
            </a:r>
            <a:r>
              <a:rPr lang="en-US" sz="1500">
                <a:solidFill>
                  <a:schemeClr val="dk1"/>
                </a:solidFill>
              </a:rPr>
              <a:t>Revisão da metodologia aplicada, análise dos resultados parciais e progressão do Cronograma (seção 8) e Referências Bibliográficas (seção 9) do pré-projeto</a:t>
            </a:r>
            <a:r>
              <a:rPr lang="en-US" sz="1500">
                <a:solidFill>
                  <a:schemeClr val="dk1"/>
                </a:solidFill>
              </a:rPr>
              <a:t>.</a:t>
            </a:r>
            <a:br>
              <a:rPr lang="en-US" sz="1500">
                <a:solidFill>
                  <a:schemeClr val="dk1"/>
                </a:solidFill>
              </a:rPr>
            </a:br>
            <a:endParaRPr/>
          </a:p>
          <a:p>
            <a:pPr indent="-287274" lvl="1" marL="694944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❏"/>
            </a:pPr>
            <a:r>
              <a:rPr b="1" lang="en-US" sz="1500">
                <a:solidFill>
                  <a:srgbClr val="1155CC"/>
                </a:solidFill>
              </a:rPr>
              <a:t>[PITA </a:t>
            </a:r>
            <a:r>
              <a:rPr lang="en-US" sz="2100">
                <a:solidFill>
                  <a:schemeClr val="dk1"/>
                </a:solidFill>
                <a:highlight>
                  <a:schemeClr val="lt1"/>
                </a:highlight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📖</a:t>
            </a:r>
            <a:r>
              <a:rPr b="1" lang="en-US" sz="1500">
                <a:solidFill>
                  <a:srgbClr val="1155CC"/>
                </a:solidFill>
              </a:rPr>
              <a:t> ]</a:t>
            </a:r>
            <a:r>
              <a:rPr lang="en-US" sz="1500">
                <a:solidFill>
                  <a:schemeClr val="dk1"/>
                </a:solidFill>
              </a:rPr>
              <a:t> </a:t>
            </a:r>
            <a:r>
              <a:rPr b="1" i="0" lang="en-US" sz="1500" cap="none" strike="noStrike">
                <a:solidFill>
                  <a:schemeClr val="dk1"/>
                </a:solidFill>
              </a:rPr>
              <a:t>Aula </a:t>
            </a:r>
            <a:r>
              <a:rPr b="1" lang="en-US" sz="1500">
                <a:solidFill>
                  <a:schemeClr val="dk1"/>
                </a:solidFill>
              </a:rPr>
              <a:t>10</a:t>
            </a:r>
            <a:r>
              <a:rPr b="1" lang="en-US" sz="1500">
                <a:solidFill>
                  <a:schemeClr val="dk1"/>
                </a:solidFill>
              </a:rPr>
              <a:t> (Laboratório Orientado – Revis</a:t>
            </a:r>
            <a:r>
              <a:rPr b="1" lang="en-US" sz="1500">
                <a:solidFill>
                  <a:schemeClr val="dk1"/>
                </a:solidFill>
              </a:rPr>
              <a:t>ão do Pré-Projeto</a:t>
            </a:r>
            <a:r>
              <a:rPr b="1" lang="en-US" sz="1500">
                <a:solidFill>
                  <a:schemeClr val="dk1"/>
                </a:solidFill>
              </a:rPr>
              <a:t>):</a:t>
            </a:r>
            <a:r>
              <a:rPr lang="en-US" sz="1500">
                <a:solidFill>
                  <a:schemeClr val="dk1"/>
                </a:solidFill>
              </a:rPr>
              <a:t> F</a:t>
            </a:r>
            <a:r>
              <a:rPr lang="en-US" sz="1500">
                <a:solidFill>
                  <a:schemeClr val="dk1"/>
                </a:solidFill>
              </a:rPr>
              <a:t>eedback individualizado sobre coerência interna (problema → objetivos → metodologia), adequação às normas ABNT e consolidação do texto</a:t>
            </a:r>
            <a:r>
              <a:rPr lang="en-US" sz="1500">
                <a:solidFill>
                  <a:schemeClr val="dk1"/>
                </a:solidFill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e125265ec7_0_135"/>
          <p:cNvSpPr txBox="1"/>
          <p:nvPr/>
        </p:nvSpPr>
        <p:spPr>
          <a:xfrm>
            <a:off x="5923825" y="2934425"/>
            <a:ext cx="5972700" cy="29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97155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❏"/>
            </a:pPr>
            <a:r>
              <a:rPr b="1" lang="en-US" sz="1500">
                <a:solidFill>
                  <a:srgbClr val="1155CC"/>
                </a:solidFill>
              </a:rPr>
              <a:t>[</a:t>
            </a:r>
            <a:r>
              <a:rPr b="1" lang="en-US" sz="1500">
                <a:solidFill>
                  <a:srgbClr val="1155CC"/>
                </a:solidFill>
              </a:rPr>
              <a:t>PITA </a:t>
            </a:r>
            <a:r>
              <a:rPr lang="en-US" sz="2100">
                <a:solidFill>
                  <a:schemeClr val="dk1"/>
                </a:solidFill>
                <a:highlight>
                  <a:schemeClr val="lt1"/>
                </a:highlight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📖</a:t>
            </a:r>
            <a:r>
              <a:rPr b="1" lang="en-US" sz="1500">
                <a:solidFill>
                  <a:srgbClr val="1155CC"/>
                </a:solidFill>
              </a:rPr>
              <a:t> ]</a:t>
            </a:r>
            <a:r>
              <a:rPr lang="en-US" sz="1500">
                <a:solidFill>
                  <a:schemeClr val="dk1"/>
                </a:solidFill>
              </a:rPr>
              <a:t> </a:t>
            </a:r>
            <a:r>
              <a:rPr b="1" i="0" lang="en-US" sz="1500" cap="none" strike="noStrike">
                <a:solidFill>
                  <a:schemeClr val="dk1"/>
                </a:solidFill>
              </a:rPr>
              <a:t>Aula </a:t>
            </a:r>
            <a:r>
              <a:rPr b="1" lang="en-US" sz="1500">
                <a:solidFill>
                  <a:schemeClr val="dk1"/>
                </a:solidFill>
              </a:rPr>
              <a:t>11</a:t>
            </a:r>
            <a:r>
              <a:rPr b="1" lang="en-US" sz="1500">
                <a:solidFill>
                  <a:schemeClr val="dk1"/>
                </a:solidFill>
              </a:rPr>
              <a:t> (</a:t>
            </a:r>
            <a:r>
              <a:rPr b="1" lang="en-US" sz="1500">
                <a:solidFill>
                  <a:schemeClr val="dk1"/>
                </a:solidFill>
              </a:rPr>
              <a:t>Laboratório Orientado – Simulação de Banca</a:t>
            </a:r>
            <a:r>
              <a:rPr b="1" lang="en-US" sz="1500">
                <a:solidFill>
                  <a:schemeClr val="dk1"/>
                </a:solidFill>
              </a:rPr>
              <a:t>)</a:t>
            </a:r>
            <a:r>
              <a:rPr b="1" i="0" lang="en-US" sz="1500" cap="none" strike="noStrike">
                <a:solidFill>
                  <a:schemeClr val="dk1"/>
                </a:solidFill>
              </a:rPr>
              <a:t>:</a:t>
            </a:r>
            <a:r>
              <a:rPr b="0" i="0" lang="en-US" sz="1500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>
                <a:solidFill>
                  <a:schemeClr val="dk1"/>
                </a:solidFill>
              </a:rPr>
              <a:t>Cada discente apresenta o esboço do pré-projeto em 10 minutos, com feedback dos professores sobre conteúdo, coerência metodológica e desempenho oral</a:t>
            </a:r>
            <a:r>
              <a:rPr lang="en-US" sz="1500">
                <a:solidFill>
                  <a:schemeClr val="dk1"/>
                </a:solidFill>
              </a:rPr>
              <a:t>.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9715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❏"/>
            </a:pPr>
            <a:r>
              <a:rPr b="1" lang="en-US" sz="1500">
                <a:solidFill>
                  <a:srgbClr val="3B7F23"/>
                </a:solidFill>
              </a:rPr>
              <a:t>[HÉLIO ⚙️ ] </a:t>
            </a:r>
            <a:r>
              <a:rPr b="1" i="0" lang="en-US" sz="1500" cap="none" strike="noStrike">
                <a:solidFill>
                  <a:schemeClr val="dk1"/>
                </a:solidFill>
              </a:rPr>
              <a:t>Aula </a:t>
            </a:r>
            <a:r>
              <a:rPr b="1" lang="en-US" sz="1500">
                <a:solidFill>
                  <a:schemeClr val="dk1"/>
                </a:solidFill>
              </a:rPr>
              <a:t>12</a:t>
            </a:r>
            <a:r>
              <a:rPr b="1" lang="en-US" sz="1500">
                <a:solidFill>
                  <a:schemeClr val="dk1"/>
                </a:solidFill>
              </a:rPr>
              <a:t> (</a:t>
            </a:r>
            <a:r>
              <a:rPr b="1" lang="en-US" sz="1500">
                <a:solidFill>
                  <a:schemeClr val="dk1"/>
                </a:solidFill>
              </a:rPr>
              <a:t>Laboratório Orientado – Ajustes finais do pré-projeto</a:t>
            </a:r>
            <a:r>
              <a:rPr b="1" lang="en-US" sz="1500">
                <a:solidFill>
                  <a:schemeClr val="dk1"/>
                </a:solidFill>
              </a:rPr>
              <a:t>)</a:t>
            </a:r>
            <a:r>
              <a:rPr b="1" i="0" lang="en-US" sz="1500" cap="none" strike="noStrike">
                <a:solidFill>
                  <a:schemeClr val="dk1"/>
                </a:solidFill>
              </a:rPr>
              <a:t>: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>
                <a:solidFill>
                  <a:schemeClr val="dk1"/>
                </a:solidFill>
              </a:rPr>
              <a:t>Incorporação dos feedbacks da simulação de banca, revisão final do texto e preparação dos slides para a Banca Examinadora</a:t>
            </a:r>
            <a:r>
              <a:rPr lang="en-US" sz="1500">
                <a:solidFill>
                  <a:schemeClr val="dk1"/>
                </a:solidFill>
              </a:rPr>
              <a:t>.</a:t>
            </a:r>
            <a:endParaRPr/>
          </a:p>
        </p:txBody>
      </p:sp>
      <p:sp>
        <p:nvSpPr>
          <p:cNvPr id="230" name="Google Shape;230;g3e125265ec7_0_135"/>
          <p:cNvSpPr/>
          <p:nvPr/>
        </p:nvSpPr>
        <p:spPr>
          <a:xfrm>
            <a:off x="670425" y="1307850"/>
            <a:ext cx="10473900" cy="681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125265ec7_0_155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e125265ec7_0_155"/>
          <p:cNvSpPr txBox="1"/>
          <p:nvPr>
            <p:ph type="title"/>
          </p:nvPr>
        </p:nvSpPr>
        <p:spPr>
          <a:xfrm>
            <a:off x="391510" y="154917"/>
            <a:ext cx="105156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Sobre a disciplina</a:t>
            </a:r>
            <a:endParaRPr/>
          </a:p>
        </p:txBody>
      </p:sp>
      <p:sp>
        <p:nvSpPr>
          <p:cNvPr id="237" name="Google Shape;237;g3e125265ec7_0_155"/>
          <p:cNvSpPr txBox="1"/>
          <p:nvPr>
            <p:ph idx="1" type="body"/>
          </p:nvPr>
        </p:nvSpPr>
        <p:spPr>
          <a:xfrm>
            <a:off x="395265" y="1431487"/>
            <a:ext cx="10958400" cy="4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600"/>
              <a:t>PROJETO DE CIÊNCIA DE DADOS E INTELIGÊNCIA ARTIFICIAL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25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en-US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Ementa/módulos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e125265ec7_0_155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e125265ec7_0_155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e125265ec7_0_155"/>
          <p:cNvSpPr txBox="1"/>
          <p:nvPr/>
        </p:nvSpPr>
        <p:spPr>
          <a:xfrm>
            <a:off x="1323348" y="6303818"/>
            <a:ext cx="425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| Apresentação da disciplina</a:t>
            </a:r>
            <a:endParaRPr/>
          </a:p>
        </p:txBody>
      </p:sp>
      <p:sp>
        <p:nvSpPr>
          <p:cNvPr id="241" name="Google Shape;241;g3e125265ec7_0_1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2" name="Google Shape;242;g3e125265ec7_0_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243" name="Google Shape;243;g3e125265ec7_0_1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e125265ec7_0_155"/>
          <p:cNvSpPr txBox="1"/>
          <p:nvPr/>
        </p:nvSpPr>
        <p:spPr>
          <a:xfrm>
            <a:off x="304300" y="3066325"/>
            <a:ext cx="61689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514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❏"/>
            </a:pP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Módulo I</a:t>
            </a:r>
            <a:r>
              <a:rPr b="1" lang="en-US" sz="1900">
                <a:solidFill>
                  <a:schemeClr val="dk1"/>
                </a:solidFill>
              </a:rPr>
              <a:t>V</a:t>
            </a: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(dias </a:t>
            </a:r>
            <a:r>
              <a:rPr b="1" lang="en-US" sz="1900">
                <a:solidFill>
                  <a:schemeClr val="dk1"/>
                </a:solidFill>
              </a:rPr>
              <a:t>26</a:t>
            </a: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en-US" sz="1900">
                <a:solidFill>
                  <a:schemeClr val="dk1"/>
                </a:solidFill>
              </a:rPr>
              <a:t>27</a:t>
            </a: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</a:t>
            </a:r>
            <a:r>
              <a:rPr b="1" lang="en-US" sz="1900">
                <a:solidFill>
                  <a:schemeClr val="dk1"/>
                </a:solidFill>
              </a:rPr>
              <a:t>6</a:t>
            </a: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/26)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274" lvl="1" marL="694944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❏"/>
            </a:pPr>
            <a:r>
              <a:rPr b="1" lang="en-US" sz="1500">
                <a:solidFill>
                  <a:srgbClr val="3B7F23"/>
                </a:solidFill>
              </a:rPr>
              <a:t>[HÉLIO + Convidado ]</a:t>
            </a:r>
            <a:r>
              <a:rPr b="1" lang="en-US" sz="1500">
                <a:solidFill>
                  <a:srgbClr val="C00000"/>
                </a:solidFill>
              </a:rPr>
              <a:t> </a:t>
            </a:r>
            <a:r>
              <a:rPr b="1" i="0" lang="en-US" sz="1500" cap="none" strike="noStrike">
                <a:solidFill>
                  <a:schemeClr val="dk1"/>
                </a:solidFill>
              </a:rPr>
              <a:t>Aula </a:t>
            </a:r>
            <a:r>
              <a:rPr b="1" lang="en-US" sz="1500">
                <a:solidFill>
                  <a:schemeClr val="dk1"/>
                </a:solidFill>
              </a:rPr>
              <a:t>13</a:t>
            </a:r>
            <a:r>
              <a:rPr b="1" i="0" lang="en-US" sz="1500" cap="none" strike="noStrike">
                <a:solidFill>
                  <a:schemeClr val="dk1"/>
                </a:solidFill>
              </a:rPr>
              <a:t> (</a:t>
            </a:r>
            <a:r>
              <a:rPr b="1" lang="en-US" sz="1500">
                <a:solidFill>
                  <a:schemeClr val="dk1"/>
                </a:solidFill>
              </a:rPr>
              <a:t>Apresentações</a:t>
            </a:r>
            <a:r>
              <a:rPr b="1" lang="en-US" sz="1500">
                <a:solidFill>
                  <a:schemeClr val="dk1"/>
                </a:solidFill>
              </a:rPr>
              <a:t> – 1º Grupo</a:t>
            </a:r>
            <a:r>
              <a:rPr b="1" i="0" lang="en-US" sz="1500" cap="none" strike="noStrike">
                <a:solidFill>
                  <a:schemeClr val="dk1"/>
                </a:solidFill>
              </a:rPr>
              <a:t>): </a:t>
            </a:r>
            <a:r>
              <a:rPr lang="en-US" sz="1500">
                <a:solidFill>
                  <a:schemeClr val="dk1"/>
                </a:solidFill>
              </a:rPr>
              <a:t>Apresentação oral do pré-projeto (15 min) + sessão de perguntas da banca + entrega do pré-projeto escrito em versão final.</a:t>
            </a:r>
            <a:br>
              <a:rPr lang="en-US" sz="1500">
                <a:solidFill>
                  <a:schemeClr val="dk1"/>
                </a:solidFill>
              </a:rPr>
            </a:br>
            <a:endParaRPr/>
          </a:p>
          <a:p>
            <a:pPr indent="-287274" lvl="1" marL="694944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❏"/>
            </a:pPr>
            <a:r>
              <a:rPr b="1" lang="en-US" sz="1500">
                <a:solidFill>
                  <a:srgbClr val="1155CC"/>
                </a:solidFill>
              </a:rPr>
              <a:t>[PITA + Convidado ]</a:t>
            </a:r>
            <a:r>
              <a:rPr lang="en-US" sz="1500">
                <a:solidFill>
                  <a:schemeClr val="dk1"/>
                </a:solidFill>
              </a:rPr>
              <a:t> </a:t>
            </a:r>
            <a:r>
              <a:rPr b="1" i="0" lang="en-US" sz="1500" cap="none" strike="noStrike">
                <a:solidFill>
                  <a:schemeClr val="dk1"/>
                </a:solidFill>
              </a:rPr>
              <a:t>Aula </a:t>
            </a:r>
            <a:r>
              <a:rPr b="1" lang="en-US" sz="1500">
                <a:solidFill>
                  <a:schemeClr val="dk1"/>
                </a:solidFill>
              </a:rPr>
              <a:t>14 (</a:t>
            </a:r>
            <a:r>
              <a:rPr b="1" lang="en-US" sz="1500">
                <a:solidFill>
                  <a:schemeClr val="dk1"/>
                </a:solidFill>
              </a:rPr>
              <a:t>Apresentações – 2º Grupo</a:t>
            </a:r>
            <a:r>
              <a:rPr b="1" lang="en-US" sz="1500">
                <a:solidFill>
                  <a:schemeClr val="dk1"/>
                </a:solidFill>
              </a:rPr>
              <a:t>):</a:t>
            </a:r>
            <a:r>
              <a:rPr lang="en-US" sz="1500">
                <a:solidFill>
                  <a:schemeClr val="dk1"/>
                </a:solidFill>
              </a:rPr>
              <a:t> </a:t>
            </a:r>
            <a:r>
              <a:rPr lang="en-US" sz="1500">
                <a:solidFill>
                  <a:schemeClr val="dk1"/>
                </a:solidFill>
              </a:rPr>
              <a:t>Apresentação oral do pré-projeto (15 min) + sessão de perguntas da banca + entrega do pré-projeto escrito em versão final</a:t>
            </a:r>
            <a:r>
              <a:rPr lang="en-US" sz="1500">
                <a:solidFill>
                  <a:schemeClr val="dk1"/>
                </a:solidFill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e125265ec7_0_155"/>
          <p:cNvSpPr txBox="1"/>
          <p:nvPr/>
        </p:nvSpPr>
        <p:spPr>
          <a:xfrm>
            <a:off x="5813925" y="3000375"/>
            <a:ext cx="6168900" cy="29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97155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❏"/>
            </a:pPr>
            <a:r>
              <a:rPr b="1" lang="en-US" sz="1500">
                <a:solidFill>
                  <a:srgbClr val="1155CC"/>
                </a:solidFill>
              </a:rPr>
              <a:t>[PITA + Convidado]</a:t>
            </a:r>
            <a:r>
              <a:rPr lang="en-US" sz="1500">
                <a:solidFill>
                  <a:schemeClr val="dk1"/>
                </a:solidFill>
              </a:rPr>
              <a:t> </a:t>
            </a:r>
            <a:r>
              <a:rPr b="1" i="0" lang="en-US" sz="1500" cap="none" strike="noStrike">
                <a:solidFill>
                  <a:schemeClr val="dk1"/>
                </a:solidFill>
              </a:rPr>
              <a:t>Aula </a:t>
            </a:r>
            <a:r>
              <a:rPr b="1" lang="en-US" sz="1500">
                <a:solidFill>
                  <a:schemeClr val="dk1"/>
                </a:solidFill>
              </a:rPr>
              <a:t>15 (</a:t>
            </a:r>
            <a:r>
              <a:rPr b="1" lang="en-US" sz="1500">
                <a:solidFill>
                  <a:schemeClr val="dk1"/>
                </a:solidFill>
              </a:rPr>
              <a:t>Apresentações – 3º Grupo</a:t>
            </a:r>
            <a:r>
              <a:rPr b="1" lang="en-US" sz="1500">
                <a:solidFill>
                  <a:schemeClr val="dk1"/>
                </a:solidFill>
              </a:rPr>
              <a:t>)</a:t>
            </a:r>
            <a:r>
              <a:rPr b="1" i="0" lang="en-US" sz="1500" cap="none" strike="noStrike">
                <a:solidFill>
                  <a:schemeClr val="dk1"/>
                </a:solidFill>
              </a:rPr>
              <a:t>:</a:t>
            </a:r>
            <a:r>
              <a:rPr b="0" i="0" lang="en-US" sz="1500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>
                <a:solidFill>
                  <a:schemeClr val="dk1"/>
                </a:solidFill>
              </a:rPr>
              <a:t>Apresentação oral do pré-projeto (15 min) + sessão de perguntas da banca + entrega do pré-projeto escrito em versão final</a:t>
            </a:r>
            <a:r>
              <a:rPr lang="en-US" sz="1500">
                <a:solidFill>
                  <a:schemeClr val="dk1"/>
                </a:solidFill>
              </a:rPr>
              <a:t>.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9715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❏"/>
            </a:pPr>
            <a:r>
              <a:rPr b="1" lang="en-US" sz="1500">
                <a:solidFill>
                  <a:srgbClr val="3B7F23"/>
                </a:solidFill>
              </a:rPr>
              <a:t>[HÉLIO] </a:t>
            </a:r>
            <a:r>
              <a:rPr b="1" i="0" lang="en-US" sz="1500" cap="none" strike="noStrike">
                <a:solidFill>
                  <a:schemeClr val="dk1"/>
                </a:solidFill>
              </a:rPr>
              <a:t>Aula </a:t>
            </a:r>
            <a:r>
              <a:rPr b="1" lang="en-US" sz="1500">
                <a:solidFill>
                  <a:schemeClr val="dk1"/>
                </a:solidFill>
              </a:rPr>
              <a:t>16 (Sess</a:t>
            </a:r>
            <a:r>
              <a:rPr b="1" lang="en-US" sz="1500">
                <a:solidFill>
                  <a:schemeClr val="dk1"/>
                </a:solidFill>
              </a:rPr>
              <a:t>ão de encerramento</a:t>
            </a:r>
            <a:r>
              <a:rPr b="1" lang="en-US" sz="1500">
                <a:solidFill>
                  <a:schemeClr val="dk1"/>
                </a:solidFill>
              </a:rPr>
              <a:t>)</a:t>
            </a:r>
            <a:r>
              <a:rPr b="1" i="0" lang="en-US" sz="1500" cap="none" strike="noStrike">
                <a:solidFill>
                  <a:schemeClr val="dk1"/>
                </a:solidFill>
              </a:rPr>
              <a:t>: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>
                <a:solidFill>
                  <a:schemeClr val="dk1"/>
                </a:solidFill>
              </a:rPr>
              <a:t>Feedback geral da banca examinadora, deliberação e divulgação das notas. Os pré-projetos aprovados serão encaminhados aos orientadores, com esboço de dissertação estruturado para antecipar parte da orientação.</a:t>
            </a:r>
            <a:endParaRPr/>
          </a:p>
        </p:txBody>
      </p:sp>
      <p:sp>
        <p:nvSpPr>
          <p:cNvPr id="246" name="Google Shape;246;g3e125265ec7_0_155"/>
          <p:cNvSpPr/>
          <p:nvPr/>
        </p:nvSpPr>
        <p:spPr>
          <a:xfrm>
            <a:off x="670425" y="1307850"/>
            <a:ext cx="10473900" cy="681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e125265ec7_0_155"/>
          <p:cNvSpPr txBox="1"/>
          <p:nvPr/>
        </p:nvSpPr>
        <p:spPr>
          <a:xfrm>
            <a:off x="5719500" y="2437250"/>
            <a:ext cx="5187600" cy="47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3300000" dist="7620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</a:rPr>
              <a:t>MÓDULO DE AVALIAÇÃO (NOTA MÍNIMA: 6)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125265ec7_0_176"/>
          <p:cNvSpPr/>
          <p:nvPr/>
        </p:nvSpPr>
        <p:spPr>
          <a:xfrm>
            <a:off x="0" y="1216478"/>
            <a:ext cx="12192000" cy="30621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e125265ec7_0_176"/>
          <p:cNvSpPr txBox="1"/>
          <p:nvPr>
            <p:ph type="ctrTitle"/>
          </p:nvPr>
        </p:nvSpPr>
        <p:spPr>
          <a:xfrm>
            <a:off x="540275" y="1806475"/>
            <a:ext cx="8190600" cy="19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Fundamentos da Pesquisa Científica e Elaboração de Projetos</a:t>
            </a:r>
            <a:endParaRPr sz="5900"/>
          </a:p>
        </p:txBody>
      </p:sp>
      <p:sp>
        <p:nvSpPr>
          <p:cNvPr id="254" name="Google Shape;254;g3e125265ec7_0_176"/>
          <p:cNvSpPr/>
          <p:nvPr/>
        </p:nvSpPr>
        <p:spPr>
          <a:xfrm>
            <a:off x="-9401" y="4074606"/>
            <a:ext cx="4600500" cy="873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e125265ec7_0_176"/>
          <p:cNvSpPr txBox="1"/>
          <p:nvPr>
            <p:ph idx="1" type="subTitle"/>
          </p:nvPr>
        </p:nvSpPr>
        <p:spPr>
          <a:xfrm>
            <a:off x="298500" y="163225"/>
            <a:ext cx="3185400" cy="8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en-US" sz="1900"/>
              <a:t>Prof. </a:t>
            </a:r>
            <a:r>
              <a:rPr i="1" lang="en-US" sz="1900">
                <a:latin typeface="Arial"/>
                <a:ea typeface="Arial"/>
                <a:cs typeface="Arial"/>
                <a:sym typeface="Arial"/>
              </a:rPr>
              <a:t>Marcelo </a:t>
            </a:r>
            <a:r>
              <a:rPr i="1" lang="en-US" sz="1900"/>
              <a:t>Pita</a:t>
            </a:r>
            <a:endParaRPr i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en-US" sz="1900"/>
              <a:t>Prof. Hélio Macêdo Filho</a:t>
            </a:r>
            <a:endParaRPr i="1" sz="1900"/>
          </a:p>
        </p:txBody>
      </p:sp>
      <p:pic>
        <p:nvPicPr>
          <p:cNvPr id="256" name="Google Shape;256;g3e125265ec7_0_1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2605" y="628432"/>
            <a:ext cx="1178034" cy="1178034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3e125265ec7_0_176"/>
          <p:cNvSpPr/>
          <p:nvPr/>
        </p:nvSpPr>
        <p:spPr>
          <a:xfrm>
            <a:off x="7522756" y="1179102"/>
            <a:ext cx="4600500" cy="873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e125265ec7_0_176"/>
          <p:cNvSpPr txBox="1"/>
          <p:nvPr/>
        </p:nvSpPr>
        <p:spPr>
          <a:xfrm>
            <a:off x="7814869" y="3422367"/>
            <a:ext cx="4308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4862"/>
                </a:solidFill>
                <a:latin typeface="Arial"/>
                <a:ea typeface="Arial"/>
                <a:cs typeface="Arial"/>
                <a:sym typeface="Arial"/>
              </a:rPr>
              <a:t>Mestrado Profissional em Ciência de Dados</a:t>
            </a:r>
            <a:br>
              <a:rPr b="1" lang="en-US" sz="1500">
                <a:solidFill>
                  <a:srgbClr val="0F4862"/>
                </a:solidFill>
              </a:rPr>
            </a:br>
            <a:r>
              <a:rPr b="1" i="0" lang="en-US" sz="1500" u="none" cap="none" strike="noStrike">
                <a:solidFill>
                  <a:srgbClr val="0F4862"/>
                </a:solidFill>
                <a:latin typeface="Arial"/>
                <a:ea typeface="Arial"/>
                <a:cs typeface="Arial"/>
                <a:sym typeface="Arial"/>
              </a:rPr>
              <a:t>e Inteligência Artificial no Setor Público</a:t>
            </a:r>
            <a:endParaRPr b="1" sz="1500">
              <a:solidFill>
                <a:srgbClr val="0F48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ma imagem contendo objeto, relógio de pulso, relógio, placar&#10;&#10;O conteúdo gerado por IA pode estar incorreto." id="259" name="Google Shape;259;g3e125265ec7_0_1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9155" y="2461081"/>
            <a:ext cx="1757614" cy="866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g3e125265ec7_0_176" title="projeto_cd_i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161800"/>
            <a:ext cx="12191999" cy="267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"/>
          <p:cNvSpPr/>
          <p:nvPr/>
        </p:nvSpPr>
        <p:spPr>
          <a:xfrm>
            <a:off x="0" y="1137"/>
            <a:ext cx="12192000" cy="988245"/>
          </a:xfrm>
          <a:prstGeom prst="rect">
            <a:avLst/>
          </a:prstGeom>
          <a:solidFill>
            <a:srgbClr val="CAD8E6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"/>
          <p:cNvSpPr txBox="1"/>
          <p:nvPr>
            <p:ph type="title"/>
          </p:nvPr>
        </p:nvSpPr>
        <p:spPr>
          <a:xfrm>
            <a:off x="1496192" y="2292130"/>
            <a:ext cx="9189953" cy="1956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</a:pPr>
            <a:r>
              <a:rPr b="1" lang="en-US" sz="5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Conhecimento Científico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-1" y="6123412"/>
            <a:ext cx="12192000" cy="73424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65777" y="295605"/>
            <a:ext cx="582448" cy="556172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7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pic>
        <p:nvPicPr>
          <p:cNvPr descr="Uma imagem contendo objeto, relógio de pulso, relógio, placar&#10;&#10;O conteúdo gerado por IA pode estar incorreto." id="270" name="Google Shape;2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8" cy="475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"/>
          <p:cNvSpPr/>
          <p:nvPr/>
        </p:nvSpPr>
        <p:spPr>
          <a:xfrm>
            <a:off x="0" y="1137"/>
            <a:ext cx="12192000" cy="988245"/>
          </a:xfrm>
          <a:prstGeom prst="rect">
            <a:avLst/>
          </a:prstGeom>
          <a:solidFill>
            <a:srgbClr val="CAD8E6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8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O que é conhecimento?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393114" y="917949"/>
            <a:ext cx="5610065" cy="68135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-1" y="6123412"/>
            <a:ext cx="12192000" cy="73424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0" name="Google Shape;28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281" name="Google Shape;28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8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8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4400717" y="1392127"/>
            <a:ext cx="3386700" cy="3386700"/>
          </a:xfrm>
          <a:prstGeom prst="donut">
            <a:avLst>
              <a:gd fmla="val 16067" name="adj"/>
            </a:avLst>
          </a:prstGeom>
          <a:solidFill>
            <a:srgbClr val="000000">
              <a:alpha val="1076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4" name="Google Shape;284;p8"/>
          <p:cNvGrpSpPr/>
          <p:nvPr/>
        </p:nvGrpSpPr>
        <p:grpSpPr>
          <a:xfrm>
            <a:off x="2088174" y="1591267"/>
            <a:ext cx="2732380" cy="892778"/>
            <a:chOff x="1563132" y="1315130"/>
            <a:chExt cx="2049336" cy="669600"/>
          </a:xfrm>
        </p:grpSpPr>
        <p:cxnSp>
          <p:nvCxnSpPr>
            <p:cNvPr id="285" name="Google Shape;285;p8"/>
            <p:cNvCxnSpPr/>
            <p:nvPr/>
          </p:nvCxnSpPr>
          <p:spPr>
            <a:xfrm>
              <a:off x="3178969" y="1638300"/>
              <a:ext cx="433500" cy="252300"/>
            </a:xfrm>
            <a:prstGeom prst="straightConnector1">
              <a:avLst/>
            </a:prstGeom>
            <a:noFill/>
            <a:ln cap="flat" cmpd="sng" w="25400">
              <a:solidFill>
                <a:srgbClr val="65F0AC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sp>
          <p:nvSpPr>
            <p:cNvPr id="286" name="Google Shape;286;p8"/>
            <p:cNvSpPr txBox="1"/>
            <p:nvPr/>
          </p:nvSpPr>
          <p:spPr>
            <a:xfrm>
              <a:off x="1563132" y="1315130"/>
              <a:ext cx="16128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4A86E8"/>
                  </a:solidFill>
                  <a:latin typeface="Roboto"/>
                  <a:ea typeface="Roboto"/>
                  <a:cs typeface="Roboto"/>
                  <a:sym typeface="Roboto"/>
                </a:rPr>
                <a:t>CONHECIMENTO</a:t>
              </a:r>
              <a:endParaRPr b="1" sz="1900">
                <a:solidFill>
                  <a:srgbClr val="4A86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latin typeface="Roboto"/>
                  <a:ea typeface="Roboto"/>
                  <a:cs typeface="Roboto"/>
                  <a:sym typeface="Roboto"/>
                </a:rPr>
                <a:t>ELABORAÇÃO / ESTRUTURAÇÃO</a:t>
              </a:r>
              <a:endParaRPr b="1"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87" name="Google Shape;287;p8"/>
          <p:cNvGrpSpPr/>
          <p:nvPr/>
        </p:nvGrpSpPr>
        <p:grpSpPr>
          <a:xfrm>
            <a:off x="7360291" y="1591259"/>
            <a:ext cx="2586610" cy="892778"/>
            <a:chOff x="5517319" y="1315124"/>
            <a:chExt cx="1940006" cy="669600"/>
          </a:xfrm>
        </p:grpSpPr>
        <p:cxnSp>
          <p:nvCxnSpPr>
            <p:cNvPr id="288" name="Google Shape;288;p8"/>
            <p:cNvCxnSpPr/>
            <p:nvPr/>
          </p:nvCxnSpPr>
          <p:spPr>
            <a:xfrm flipH="1">
              <a:off x="5517319" y="1638300"/>
              <a:ext cx="433500" cy="252300"/>
            </a:xfrm>
            <a:prstGeom prst="straightConnector1">
              <a:avLst/>
            </a:prstGeom>
            <a:noFill/>
            <a:ln cap="flat" cmpd="sng" w="25400">
              <a:solidFill>
                <a:srgbClr val="085630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sp>
          <p:nvSpPr>
            <p:cNvPr id="289" name="Google Shape;289;p8"/>
            <p:cNvSpPr txBox="1"/>
            <p:nvPr/>
          </p:nvSpPr>
          <p:spPr>
            <a:xfrm>
              <a:off x="5962125" y="1315124"/>
              <a:ext cx="14952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latin typeface="Roboto"/>
                  <a:ea typeface="Roboto"/>
                  <a:cs typeface="Roboto"/>
                  <a:sym typeface="Roboto"/>
                </a:rPr>
                <a:t>REALIDADE</a:t>
              </a:r>
              <a:endParaRPr sz="13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latin typeface="Roboto"/>
                  <a:ea typeface="Roboto"/>
                  <a:cs typeface="Roboto"/>
                  <a:sym typeface="Roboto"/>
                </a:rPr>
                <a:t>DADOS BRUTOS</a:t>
              </a:r>
              <a:endParaRPr b="1"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0" name="Google Shape;290;p8"/>
          <p:cNvGrpSpPr/>
          <p:nvPr/>
        </p:nvGrpSpPr>
        <p:grpSpPr>
          <a:xfrm>
            <a:off x="5081558" y="4551208"/>
            <a:ext cx="1993550" cy="1525023"/>
            <a:chOff x="3808226" y="3535140"/>
            <a:chExt cx="1495200" cy="1143796"/>
          </a:xfrm>
        </p:grpSpPr>
        <p:cxnSp>
          <p:nvCxnSpPr>
            <p:cNvPr id="291" name="Google Shape;291;p8"/>
            <p:cNvCxnSpPr/>
            <p:nvPr/>
          </p:nvCxnSpPr>
          <p:spPr>
            <a:xfrm rot="10800000">
              <a:off x="4556399" y="3535140"/>
              <a:ext cx="0" cy="460500"/>
            </a:xfrm>
            <a:prstGeom prst="straightConnector1">
              <a:avLst/>
            </a:prstGeom>
            <a:noFill/>
            <a:ln cap="flat" cmpd="sng" w="25400">
              <a:solidFill>
                <a:srgbClr val="0E9453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sp>
          <p:nvSpPr>
            <p:cNvPr id="292" name="Google Shape;292;p8"/>
            <p:cNvSpPr txBox="1"/>
            <p:nvPr/>
          </p:nvSpPr>
          <p:spPr>
            <a:xfrm>
              <a:off x="3808226" y="4009336"/>
              <a:ext cx="14952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latin typeface="Roboto"/>
                  <a:ea typeface="Roboto"/>
                  <a:cs typeface="Roboto"/>
                  <a:sym typeface="Roboto"/>
                </a:rPr>
                <a:t>MENTE HUMANA</a:t>
              </a:r>
              <a:endParaRPr sz="13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latin typeface="Roboto"/>
                  <a:ea typeface="Roboto"/>
                  <a:cs typeface="Roboto"/>
                  <a:sym typeface="Roboto"/>
                </a:rPr>
                <a:t>FILTRO DA PERCEPÇÃO HUMANA</a:t>
              </a:r>
              <a:endParaRPr b="1"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93" name="Google Shape;293;p8"/>
          <p:cNvSpPr txBox="1"/>
          <p:nvPr/>
        </p:nvSpPr>
        <p:spPr>
          <a:xfrm>
            <a:off x="5131761" y="2579752"/>
            <a:ext cx="1924800" cy="10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Roboto"/>
                <a:ea typeface="Roboto"/>
                <a:cs typeface="Roboto"/>
                <a:sym typeface="Roboto"/>
              </a:rPr>
              <a:t>PRODUÇÃO DO CONHECIMENTO</a:t>
            </a:r>
            <a:endParaRPr sz="1600"/>
          </a:p>
        </p:txBody>
      </p:sp>
      <p:sp>
        <p:nvSpPr>
          <p:cNvPr id="294" name="Google Shape;294;p8"/>
          <p:cNvSpPr/>
          <p:nvPr/>
        </p:nvSpPr>
        <p:spPr>
          <a:xfrm rot="1800095">
            <a:off x="4297167" y="1286377"/>
            <a:ext cx="3587828" cy="3587828"/>
          </a:xfrm>
          <a:prstGeom prst="blockArc">
            <a:avLst>
              <a:gd fmla="val 14414370" name="adj1"/>
              <a:gd fmla="val 694" name="adj2"/>
              <a:gd fmla="val 9562" name="adj3"/>
            </a:avLst>
          </a:prstGeom>
          <a:solidFill>
            <a:srgbClr val="085630"/>
          </a:solidFill>
          <a:ln>
            <a:noFill/>
          </a:ln>
          <a:effectLst>
            <a:outerShdw blurRad="95250" rotWithShape="0" algn="bl" dir="5400000" dist="12700">
              <a:srgbClr val="000000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 flipH="1" rot="-1800095">
            <a:off x="4300084" y="1286377"/>
            <a:ext cx="3587828" cy="3587828"/>
          </a:xfrm>
          <a:prstGeom prst="blockArc">
            <a:avLst>
              <a:gd fmla="val 14348563" name="adj1"/>
              <a:gd fmla="val 21472873" name="adj2"/>
              <a:gd fmla="val 9381" name="adj3"/>
            </a:avLst>
          </a:prstGeom>
          <a:solidFill>
            <a:srgbClr val="65F0AC"/>
          </a:solidFill>
          <a:ln>
            <a:noFill/>
          </a:ln>
          <a:effectLst>
            <a:outerShdw blurRad="95250" rotWithShape="0" algn="bl" dir="5400000" dist="12700">
              <a:srgbClr val="000000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 rot="-8100000">
            <a:off x="5847741" y="1207833"/>
            <a:ext cx="484085" cy="484085"/>
          </a:xfrm>
          <a:prstGeom prst="rtTriangle">
            <a:avLst/>
          </a:prstGeom>
          <a:solidFill>
            <a:srgbClr val="65F0A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 flipH="1" rot="-9000757">
            <a:off x="4298655" y="1284216"/>
            <a:ext cx="3586968" cy="3586968"/>
          </a:xfrm>
          <a:prstGeom prst="blockArc">
            <a:avLst>
              <a:gd fmla="val 14316164" name="adj1"/>
              <a:gd fmla="val 21502663" name="adj2"/>
              <a:gd fmla="val 9415" name="adj3"/>
            </a:avLst>
          </a:prstGeom>
          <a:solidFill>
            <a:srgbClr val="0E9453"/>
          </a:solidFill>
          <a:ln>
            <a:noFill/>
          </a:ln>
          <a:effectLst>
            <a:outerShdw blurRad="95250" rotWithShape="0" algn="bl" dir="5400000" dist="12700">
              <a:srgbClr val="000000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 rot="-1027073">
            <a:off x="7318513" y="3637646"/>
            <a:ext cx="416867" cy="416867"/>
          </a:xfrm>
          <a:prstGeom prst="rtTriangle">
            <a:avLst/>
          </a:prstGeom>
          <a:solidFill>
            <a:srgbClr val="08563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 rot="6359354">
            <a:off x="4425279" y="3634882"/>
            <a:ext cx="484649" cy="484649"/>
          </a:xfrm>
          <a:prstGeom prst="rtTriangle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0525" y="1392126"/>
            <a:ext cx="875300" cy="87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90598" y="5209059"/>
            <a:ext cx="684600" cy="68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62300" y="1591263"/>
            <a:ext cx="684600" cy="699162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8"/>
          <p:cNvSpPr txBox="1"/>
          <p:nvPr/>
        </p:nvSpPr>
        <p:spPr>
          <a:xfrm>
            <a:off x="439600" y="2966675"/>
            <a:ext cx="3386700" cy="1949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C</a:t>
            </a:r>
            <a:r>
              <a:rPr lang="en-US"/>
              <a:t>renças de todo tipo que construímos sobre o mundo.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Elaboraç</a:t>
            </a:r>
            <a:r>
              <a:rPr lang="en-US"/>
              <a:t>ão das e</a:t>
            </a:r>
            <a:r>
              <a:rPr lang="en-US"/>
              <a:t>xperiências que acumulamos na vida (conversas, leituras, filmes, gostos, cheiros, emoç</a:t>
            </a:r>
            <a:r>
              <a:rPr lang="en-US"/>
              <a:t>ões</a:t>
            </a:r>
            <a:r>
              <a:rPr lang="en-US"/>
              <a:t>, ...)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Nosso repert</a:t>
            </a:r>
            <a:r>
              <a:rPr lang="en-US"/>
              <a:t>ório cultural!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125265ec7_0_488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e125265ec7_0_488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Quatro tipos de conhecimento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310" name="Google Shape;310;g3e125265ec7_0_488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e125265ec7_0_488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e125265ec7_0_48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3" name="Google Shape;313;g3e125265ec7_0_4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314" name="Google Shape;314;g3e125265ec7_0_4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3e125265ec7_0_488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316" name="Google Shape;316;g3e125265ec7_0_488"/>
          <p:cNvSpPr/>
          <p:nvPr/>
        </p:nvSpPr>
        <p:spPr>
          <a:xfrm>
            <a:off x="4717677" y="1142538"/>
            <a:ext cx="4121400" cy="2340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1800000" dist="85725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5"/>
                </a:solidFill>
              </a:rPr>
              <a:t>2. </a:t>
            </a:r>
            <a:r>
              <a:rPr b="1" lang="en-US" sz="1900">
                <a:solidFill>
                  <a:schemeClr val="accent5"/>
                </a:solidFill>
              </a:rPr>
              <a:t>Senso comum</a:t>
            </a:r>
            <a:endParaRPr b="1" sz="1900">
              <a:solidFill>
                <a:schemeClr val="accent5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Vivência cotidiana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Observação pragmática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Transmitido pela convivência social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Pode ter utilidade prática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Não generalizável a priori</a:t>
            </a:r>
            <a:endParaRPr sz="1600"/>
          </a:p>
        </p:txBody>
      </p:sp>
      <p:sp>
        <p:nvSpPr>
          <p:cNvPr id="317" name="Google Shape;317;g3e125265ec7_0_488"/>
          <p:cNvSpPr/>
          <p:nvPr/>
        </p:nvSpPr>
        <p:spPr>
          <a:xfrm>
            <a:off x="382327" y="1128625"/>
            <a:ext cx="4198500" cy="2340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1800000" dist="85725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900"/>
              <a:buAutoNum type="arabicPeriod"/>
            </a:pPr>
            <a:r>
              <a:rPr b="1" lang="en-US" sz="1900">
                <a:solidFill>
                  <a:srgbClr val="CC0000"/>
                </a:solidFill>
              </a:rPr>
              <a:t>Religioso / Teológico</a:t>
            </a:r>
            <a:endParaRPr b="1" sz="1900">
              <a:solidFill>
                <a:srgbClr val="CC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Revelações sobrenaturais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Baseado em f</a:t>
            </a:r>
            <a:r>
              <a:rPr lang="en-US" sz="1600"/>
              <a:t>é, dogmas e tradições espirituais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Utilidade pessoal (espiritual)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N</a:t>
            </a:r>
            <a:r>
              <a:rPr lang="en-US" sz="1600"/>
              <a:t>ão demonstrável</a:t>
            </a:r>
            <a:endParaRPr sz="1600"/>
          </a:p>
        </p:txBody>
      </p:sp>
      <p:sp>
        <p:nvSpPr>
          <p:cNvPr id="318" name="Google Shape;318;g3e125265ec7_0_488"/>
          <p:cNvSpPr/>
          <p:nvPr/>
        </p:nvSpPr>
        <p:spPr>
          <a:xfrm>
            <a:off x="382327" y="3606941"/>
            <a:ext cx="4198500" cy="2340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1800000" dist="85725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674EA7"/>
                </a:solidFill>
              </a:rPr>
              <a:t>3. Filosófico</a:t>
            </a:r>
            <a:endParaRPr b="1" sz="1900">
              <a:solidFill>
                <a:srgbClr val="674EA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Razão e argumentação lógica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Cr</a:t>
            </a:r>
            <a:r>
              <a:rPr lang="en-US" sz="1600"/>
              <a:t>ítica da realidade, questões éticas e existenciais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Utilidade pessoal e social (reflex</a:t>
            </a:r>
            <a:r>
              <a:rPr lang="en-US" sz="1600"/>
              <a:t>ão)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N</a:t>
            </a:r>
            <a:r>
              <a:rPr lang="en-US" sz="1600"/>
              <a:t>ão necessariamente testável</a:t>
            </a:r>
            <a:endParaRPr sz="1600"/>
          </a:p>
        </p:txBody>
      </p:sp>
      <p:sp>
        <p:nvSpPr>
          <p:cNvPr id="319" name="Google Shape;319;g3e125265ec7_0_488"/>
          <p:cNvSpPr/>
          <p:nvPr/>
        </p:nvSpPr>
        <p:spPr>
          <a:xfrm>
            <a:off x="4717677" y="3600004"/>
            <a:ext cx="4121400" cy="2340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1800000" dist="85725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00FF"/>
                </a:solidFill>
              </a:rPr>
              <a:t>4. Científico</a:t>
            </a:r>
            <a:endParaRPr b="1" sz="1900">
              <a:solidFill>
                <a:srgbClr val="0000FF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Rigor metodológico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Requer evidências para validação de hipóteses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Testável, verificável, falível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Baseado no m</a:t>
            </a:r>
            <a:r>
              <a:rPr lang="en-US" sz="1600"/>
              <a:t>étodo científico</a:t>
            </a:r>
            <a:endParaRPr sz="1600"/>
          </a:p>
        </p:txBody>
      </p:sp>
      <p:sp>
        <p:nvSpPr>
          <p:cNvPr id="320" name="Google Shape;320;g3e125265ec7_0_488"/>
          <p:cNvSpPr txBox="1"/>
          <p:nvPr/>
        </p:nvSpPr>
        <p:spPr>
          <a:xfrm>
            <a:off x="9154975" y="2706313"/>
            <a:ext cx="2743200" cy="17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B050"/>
                </a:solidFill>
              </a:rPr>
              <a:t>Qual tipo de conhecimento é superior?</a:t>
            </a:r>
            <a:endParaRPr b="1" sz="280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5" name="Google Shape;325;g3e125265ec7_0_526"/>
          <p:cNvGraphicFramePr/>
          <p:nvPr/>
        </p:nvGraphicFramePr>
        <p:xfrm>
          <a:off x="952500" y="253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{837CE0A8-3212-4F78-8E15-C85D8ED5CFE6}</a:tableStyleId>
              </a:tblPr>
              <a:tblGrid>
                <a:gridCol w="5143500"/>
                <a:gridCol w="5143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="1" lang="en-US">
                          <a:solidFill>
                            <a:schemeClr val="dk1"/>
                          </a:solidFill>
                        </a:rPr>
                        <a:t>istemático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Não-verificável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="1" lang="en-US">
                          <a:solidFill>
                            <a:schemeClr val="dk1"/>
                          </a:solidFill>
                        </a:rPr>
                        <a:t>istemático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Verificável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Não-sistemático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Não-verificável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Não-sistemático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Verificável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6" name="Google Shape;326;g3e125265ec7_0_526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e125265ec7_0_526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Quatro tipos de conhecimento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328" name="Google Shape;328;g3e125265ec7_0_526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e125265ec7_0_526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e125265ec7_0_5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1" name="Google Shape;331;g3e125265ec7_0_5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332" name="Google Shape;332;g3e125265ec7_0_5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g3e125265ec7_0_526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334" name="Google Shape;334;g3e125265ec7_0_526"/>
          <p:cNvSpPr/>
          <p:nvPr/>
        </p:nvSpPr>
        <p:spPr>
          <a:xfrm>
            <a:off x="1417423" y="3328500"/>
            <a:ext cx="4198500" cy="556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1800000" dist="85725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900"/>
              <a:buAutoNum type="arabicPeriod"/>
            </a:pPr>
            <a:r>
              <a:rPr b="1" lang="en-US" sz="1900">
                <a:solidFill>
                  <a:srgbClr val="CC0000"/>
                </a:solidFill>
              </a:rPr>
              <a:t>Religioso / Teológico</a:t>
            </a:r>
            <a:endParaRPr sz="1600"/>
          </a:p>
        </p:txBody>
      </p:sp>
      <p:sp>
        <p:nvSpPr>
          <p:cNvPr id="335" name="Google Shape;335;g3e125265ec7_0_526"/>
          <p:cNvSpPr txBox="1"/>
          <p:nvPr/>
        </p:nvSpPr>
        <p:spPr>
          <a:xfrm>
            <a:off x="461575" y="1219950"/>
            <a:ext cx="11232300" cy="1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33333"/>
                </a:solidFill>
              </a:rPr>
              <a:t>Não há tipo de conhecimento superior, mas podemos classificá-los quanto à </a:t>
            </a:r>
            <a:r>
              <a:rPr b="1" lang="en-US" sz="2800">
                <a:solidFill>
                  <a:srgbClr val="333333"/>
                </a:solidFill>
              </a:rPr>
              <a:t>verificabilidade</a:t>
            </a:r>
            <a:r>
              <a:rPr lang="en-US" sz="2800">
                <a:solidFill>
                  <a:srgbClr val="333333"/>
                </a:solidFill>
              </a:rPr>
              <a:t> e </a:t>
            </a:r>
            <a:r>
              <a:rPr b="1" lang="en-US" sz="2800">
                <a:solidFill>
                  <a:srgbClr val="333333"/>
                </a:solidFill>
              </a:rPr>
              <a:t>sistematicidade</a:t>
            </a:r>
            <a:r>
              <a:rPr lang="en-US" sz="2800">
                <a:solidFill>
                  <a:srgbClr val="333333"/>
                </a:solidFill>
              </a:rPr>
              <a:t>.</a:t>
            </a:r>
            <a:endParaRPr sz="2800">
              <a:solidFill>
                <a:srgbClr val="333333"/>
              </a:solidFill>
            </a:endParaRPr>
          </a:p>
        </p:txBody>
      </p:sp>
      <p:sp>
        <p:nvSpPr>
          <p:cNvPr id="336" name="Google Shape;336;g3e125265ec7_0_526"/>
          <p:cNvSpPr/>
          <p:nvPr/>
        </p:nvSpPr>
        <p:spPr>
          <a:xfrm>
            <a:off x="4764100" y="2920125"/>
            <a:ext cx="2830200" cy="556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1800000" dist="85725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US" sz="1900">
                <a:solidFill>
                  <a:srgbClr val="674EA7"/>
                </a:solidFill>
              </a:rPr>
              <a:t>3. Filosófico</a:t>
            </a:r>
            <a:endParaRPr sz="1600"/>
          </a:p>
        </p:txBody>
      </p:sp>
      <p:sp>
        <p:nvSpPr>
          <p:cNvPr id="337" name="Google Shape;337;g3e125265ec7_0_526"/>
          <p:cNvSpPr/>
          <p:nvPr/>
        </p:nvSpPr>
        <p:spPr>
          <a:xfrm>
            <a:off x="6603152" y="3323548"/>
            <a:ext cx="4121400" cy="556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1800000" dist="85725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US" sz="1900">
                <a:solidFill>
                  <a:srgbClr val="0000FF"/>
                </a:solidFill>
              </a:rPr>
              <a:t>4. Científico</a:t>
            </a:r>
            <a:endParaRPr sz="1600">
              <a:solidFill>
                <a:srgbClr val="0000FF"/>
              </a:solidFill>
            </a:endParaRPr>
          </a:p>
        </p:txBody>
      </p:sp>
      <p:sp>
        <p:nvSpPr>
          <p:cNvPr id="338" name="Google Shape;338;g3e125265ec7_0_526"/>
          <p:cNvSpPr/>
          <p:nvPr/>
        </p:nvSpPr>
        <p:spPr>
          <a:xfrm>
            <a:off x="2302235" y="5006674"/>
            <a:ext cx="4121400" cy="556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1800000" dist="85725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US" sz="1900">
                <a:solidFill>
                  <a:schemeClr val="accent5"/>
                </a:solidFill>
              </a:rPr>
              <a:t>2. Senso comum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1d6d68533_0_398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e1d6d68533_0_398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Senso comum pode se tornar científico?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345" name="Google Shape;345;g3e1d6d68533_0_398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e1d6d68533_0_398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e1d6d68533_0_39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8" name="Google Shape;348;g3e1d6d68533_0_3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349" name="Google Shape;349;g3e1d6d68533_0_3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e1d6d68533_0_398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pic>
        <p:nvPicPr>
          <p:cNvPr id="351" name="Google Shape;351;g3e1d6d68533_0_3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4000" y="1194700"/>
            <a:ext cx="5551136" cy="4627888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e1d6d68533_0_398"/>
          <p:cNvSpPr txBox="1"/>
          <p:nvPr/>
        </p:nvSpPr>
        <p:spPr>
          <a:xfrm>
            <a:off x="7379250" y="2706313"/>
            <a:ext cx="2743200" cy="17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00B050"/>
                </a:solidFill>
              </a:rPr>
              <a:t>Algumas vezes SIM!</a:t>
            </a:r>
            <a:endParaRPr b="1" sz="3500">
              <a:solidFill>
                <a:srgbClr val="00B050"/>
              </a:solidFill>
            </a:endParaRPr>
          </a:p>
        </p:txBody>
      </p:sp>
      <p:sp>
        <p:nvSpPr>
          <p:cNvPr id="353" name="Google Shape;353;g3e1d6d68533_0_398"/>
          <p:cNvSpPr txBox="1"/>
          <p:nvPr/>
        </p:nvSpPr>
        <p:spPr>
          <a:xfrm>
            <a:off x="1846150" y="5822600"/>
            <a:ext cx="833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757575"/>
                </a:solidFill>
              </a:rPr>
              <a:t>Fonte: </a:t>
            </a:r>
            <a:r>
              <a:rPr lang="en-US" sz="1000">
                <a:solidFill>
                  <a:srgbClr val="757575"/>
                </a:solidFill>
              </a:rPr>
              <a:t>https://agencia.ufc.br/consumo-de-cuscuz-por-maes-que-amamentam-impacta-no-ganho-de-peso-dos-bebes-aponta-estudo-da-ufc/</a:t>
            </a:r>
            <a:endParaRPr sz="1000">
              <a:solidFill>
                <a:srgbClr val="757575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125265ec7_0_932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e125265ec7_0_932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Epistemologia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360" name="Google Shape;360;g3e125265ec7_0_932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e125265ec7_0_932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3e125265ec7_0_9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3" name="Google Shape;363;g3e125265ec7_0_9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364" name="Google Shape;364;g3e125265ec7_0_9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3e125265ec7_0_932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366" name="Google Shape;366;g3e125265ec7_0_932"/>
          <p:cNvSpPr txBox="1"/>
          <p:nvPr/>
        </p:nvSpPr>
        <p:spPr>
          <a:xfrm>
            <a:off x="472575" y="1391416"/>
            <a:ext cx="11362200" cy="45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333333"/>
                </a:solidFill>
              </a:rPr>
              <a:t>Área da Filosofia que estuda o processo de geração de conhecimento e </a:t>
            </a:r>
            <a:r>
              <a:rPr b="1" lang="en-US" sz="2600">
                <a:solidFill>
                  <a:srgbClr val="333333"/>
                </a:solidFill>
              </a:rPr>
              <a:t>formas de conhecer a realidade</a:t>
            </a:r>
            <a:r>
              <a:rPr lang="en-US" sz="2600">
                <a:solidFill>
                  <a:srgbClr val="333333"/>
                </a:solidFill>
              </a:rPr>
              <a:t>.</a:t>
            </a:r>
            <a:endParaRPr sz="26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333333"/>
              </a:solidFill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Char char="●"/>
            </a:pPr>
            <a:r>
              <a:rPr b="1" lang="en-US" sz="2200">
                <a:solidFill>
                  <a:srgbClr val="333333"/>
                </a:solidFill>
              </a:rPr>
              <a:t>Empirismo:</a:t>
            </a:r>
            <a:r>
              <a:rPr lang="en-US" sz="2200">
                <a:solidFill>
                  <a:srgbClr val="333333"/>
                </a:solidFill>
              </a:rPr>
              <a:t> conhecimento vem da experiência sensorial do mundo</a:t>
            </a:r>
            <a:endParaRPr sz="2200">
              <a:solidFill>
                <a:srgbClr val="333333"/>
              </a:solidFill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200"/>
              <a:buChar char="●"/>
            </a:pPr>
            <a:r>
              <a:rPr b="1" lang="en-US" sz="2200">
                <a:solidFill>
                  <a:srgbClr val="333333"/>
                </a:solidFill>
              </a:rPr>
              <a:t>Racionalismo:</a:t>
            </a:r>
            <a:r>
              <a:rPr lang="en-US" sz="2200">
                <a:solidFill>
                  <a:srgbClr val="333333"/>
                </a:solidFill>
              </a:rPr>
              <a:t> conhecimento vem da razão e da lógica</a:t>
            </a:r>
            <a:endParaRPr sz="2200">
              <a:solidFill>
                <a:srgbClr val="333333"/>
              </a:solidFill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200"/>
              <a:buChar char="●"/>
            </a:pPr>
            <a:r>
              <a:rPr b="1" lang="en-US" sz="2200">
                <a:solidFill>
                  <a:srgbClr val="333333"/>
                </a:solidFill>
              </a:rPr>
              <a:t>Construtivismo:</a:t>
            </a:r>
            <a:r>
              <a:rPr lang="en-US" sz="2200">
                <a:solidFill>
                  <a:srgbClr val="333333"/>
                </a:solidFill>
              </a:rPr>
              <a:t> conhecimento é uma construção da mente humana</a:t>
            </a:r>
            <a:endParaRPr sz="2200">
              <a:solidFill>
                <a:srgbClr val="333333"/>
              </a:solidFill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333333"/>
              </a:buClr>
              <a:buSzPts val="2200"/>
              <a:buChar char="●"/>
            </a:pPr>
            <a:r>
              <a:rPr b="1" lang="en-US" sz="2200">
                <a:solidFill>
                  <a:srgbClr val="333333"/>
                </a:solidFill>
              </a:rPr>
              <a:t>Pragmatismo:</a:t>
            </a:r>
            <a:r>
              <a:rPr lang="en-US" sz="2200">
                <a:solidFill>
                  <a:srgbClr val="333333"/>
                </a:solidFill>
              </a:rPr>
              <a:t> conhecimento é avaliado pela sua utilidade prática</a:t>
            </a:r>
            <a:endParaRPr sz="2200">
              <a:solidFill>
                <a:srgbClr val="333333"/>
              </a:solidFill>
            </a:endParaRPr>
          </a:p>
        </p:txBody>
      </p:sp>
      <p:sp>
        <p:nvSpPr>
          <p:cNvPr id="367" name="Google Shape;367;g3e125265ec7_0_932"/>
          <p:cNvSpPr txBox="1"/>
          <p:nvPr/>
        </p:nvSpPr>
        <p:spPr>
          <a:xfrm>
            <a:off x="3088300" y="5021425"/>
            <a:ext cx="72537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00B050"/>
                </a:solidFill>
              </a:rPr>
              <a:t>O conhecimento científico herda características de todas essas correntes filosóficas.</a:t>
            </a:r>
            <a:endParaRPr b="1" sz="230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e125265ec7_0_680"/>
          <p:cNvSpPr/>
          <p:nvPr/>
        </p:nvSpPr>
        <p:spPr>
          <a:xfrm>
            <a:off x="5088575" y="3355400"/>
            <a:ext cx="791400" cy="800700"/>
          </a:xfrm>
          <a:prstGeom prst="triangle">
            <a:avLst>
              <a:gd fmla="val 49585" name="adj"/>
            </a:avLst>
          </a:prstGeom>
          <a:solidFill>
            <a:srgbClr val="1155CC"/>
          </a:solidFill>
          <a:ln cap="flat" cmpd="sng" w="8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50" lIns="79150" spcFirstLastPara="1" rIns="79150" wrap="square" tIns="7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2"/>
          </a:p>
        </p:txBody>
      </p:sp>
      <p:sp>
        <p:nvSpPr>
          <p:cNvPr id="373" name="Google Shape;373;g3e125265ec7_0_680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3e125265ec7_0_680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O método científico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375" name="Google Shape;375;g3e125265ec7_0_680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e125265ec7_0_680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e125265ec7_0_68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8" name="Google Shape;378;g3e125265ec7_0_6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379" name="Google Shape;379;g3e125265ec7_0_6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g3e125265ec7_0_680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381" name="Google Shape;381;g3e125265ec7_0_680"/>
          <p:cNvSpPr txBox="1"/>
          <p:nvPr/>
        </p:nvSpPr>
        <p:spPr>
          <a:xfrm>
            <a:off x="472575" y="1162200"/>
            <a:ext cx="69789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333333"/>
                </a:solidFill>
              </a:rPr>
              <a:t>A geração de conhecimento científico é sistematizada pelo </a:t>
            </a:r>
            <a:r>
              <a:rPr b="1" lang="en-US" sz="2600">
                <a:solidFill>
                  <a:srgbClr val="333333"/>
                </a:solidFill>
              </a:rPr>
              <a:t>método científico</a:t>
            </a:r>
            <a:r>
              <a:rPr lang="en-US" sz="2600">
                <a:solidFill>
                  <a:srgbClr val="333333"/>
                </a:solidFill>
              </a:rPr>
              <a:t>.</a:t>
            </a:r>
            <a:endParaRPr sz="2600">
              <a:solidFill>
                <a:srgbClr val="333333"/>
              </a:solidFill>
            </a:endParaRPr>
          </a:p>
        </p:txBody>
      </p:sp>
      <p:pic>
        <p:nvPicPr>
          <p:cNvPr id="382" name="Google Shape;382;g3e125265ec7_0_680" title="etapas-metodo-cientifico alterad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93563" y="1141737"/>
            <a:ext cx="3540524" cy="4829274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g3e125265ec7_0_680"/>
          <p:cNvSpPr/>
          <p:nvPr/>
        </p:nvSpPr>
        <p:spPr>
          <a:xfrm>
            <a:off x="4209350" y="5419299"/>
            <a:ext cx="2549700" cy="551700"/>
          </a:xfrm>
          <a:prstGeom prst="trapezoid">
            <a:avLst>
              <a:gd fmla="val 49996" name="adj"/>
            </a:avLst>
          </a:prstGeom>
          <a:solidFill>
            <a:srgbClr val="CAEEFB"/>
          </a:solidFill>
          <a:ln cap="flat" cmpd="sng" w="8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50" lIns="79150" spcFirstLastPara="1" rIns="79150" wrap="square" tIns="7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2"/>
          </a:p>
        </p:txBody>
      </p:sp>
      <p:sp>
        <p:nvSpPr>
          <p:cNvPr id="384" name="Google Shape;384;g3e125265ec7_0_680"/>
          <p:cNvSpPr/>
          <p:nvPr/>
        </p:nvSpPr>
        <p:spPr>
          <a:xfrm>
            <a:off x="4493504" y="4817165"/>
            <a:ext cx="1970700" cy="551700"/>
          </a:xfrm>
          <a:prstGeom prst="trapezoid">
            <a:avLst>
              <a:gd fmla="val 49996" name="adj"/>
            </a:avLst>
          </a:prstGeom>
          <a:solidFill>
            <a:srgbClr val="CAEEFB"/>
          </a:solidFill>
          <a:ln cap="flat" cmpd="sng" w="8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50" lIns="79150" spcFirstLastPara="1" rIns="79150" wrap="square" tIns="7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2"/>
          </a:p>
        </p:txBody>
      </p:sp>
      <p:sp>
        <p:nvSpPr>
          <p:cNvPr id="385" name="Google Shape;385;g3e125265ec7_0_680"/>
          <p:cNvSpPr/>
          <p:nvPr/>
        </p:nvSpPr>
        <p:spPr>
          <a:xfrm>
            <a:off x="4788479" y="4213275"/>
            <a:ext cx="1380900" cy="551700"/>
          </a:xfrm>
          <a:prstGeom prst="trapezoid">
            <a:avLst>
              <a:gd fmla="val 49996" name="adj"/>
            </a:avLst>
          </a:prstGeom>
          <a:solidFill>
            <a:srgbClr val="CAEEFB"/>
          </a:solidFill>
          <a:ln cap="flat" cmpd="sng" w="8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50" lIns="79150" spcFirstLastPara="1" rIns="79150" wrap="square" tIns="7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2"/>
          </a:p>
        </p:txBody>
      </p:sp>
      <p:sp>
        <p:nvSpPr>
          <p:cNvPr id="386" name="Google Shape;386;g3e125265ec7_0_680"/>
          <p:cNvSpPr txBox="1"/>
          <p:nvPr/>
        </p:nvSpPr>
        <p:spPr>
          <a:xfrm>
            <a:off x="4550075" y="5465037"/>
            <a:ext cx="18684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Observação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87" name="Google Shape;387;g3e125265ec7_0_680"/>
          <p:cNvSpPr txBox="1"/>
          <p:nvPr/>
        </p:nvSpPr>
        <p:spPr>
          <a:xfrm>
            <a:off x="4544650" y="4866415"/>
            <a:ext cx="18684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Padrões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88" name="Google Shape;388;g3e125265ec7_0_680"/>
          <p:cNvSpPr txBox="1"/>
          <p:nvPr/>
        </p:nvSpPr>
        <p:spPr>
          <a:xfrm>
            <a:off x="4544650" y="4268150"/>
            <a:ext cx="18684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Hipótese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89" name="Google Shape;389;g3e125265ec7_0_680"/>
          <p:cNvSpPr txBox="1"/>
          <p:nvPr/>
        </p:nvSpPr>
        <p:spPr>
          <a:xfrm>
            <a:off x="5814025" y="3625663"/>
            <a:ext cx="18684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D4ED8"/>
                </a:solidFill>
              </a:rPr>
              <a:t>Teoria geral</a:t>
            </a:r>
            <a:endParaRPr b="1" sz="1800">
              <a:solidFill>
                <a:srgbClr val="1D4ED8"/>
              </a:solidFill>
            </a:endParaRPr>
          </a:p>
        </p:txBody>
      </p:sp>
      <p:pic>
        <p:nvPicPr>
          <p:cNvPr id="390" name="Google Shape;390;g3e125265ec7_0_6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01650" y="3697550"/>
            <a:ext cx="365100" cy="36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g3e125265ec7_0_680"/>
          <p:cNvSpPr txBox="1"/>
          <p:nvPr/>
        </p:nvSpPr>
        <p:spPr>
          <a:xfrm>
            <a:off x="4209425" y="2643906"/>
            <a:ext cx="2549700" cy="475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A7D22"/>
                </a:solidFill>
              </a:rPr>
              <a:t>Raciocínio indutivo</a:t>
            </a:r>
            <a:endParaRPr b="1" sz="1900">
              <a:solidFill>
                <a:srgbClr val="3A7D22"/>
              </a:solidFill>
            </a:endParaRPr>
          </a:p>
        </p:txBody>
      </p:sp>
      <p:sp>
        <p:nvSpPr>
          <p:cNvPr id="392" name="Google Shape;392;g3e125265ec7_0_680"/>
          <p:cNvSpPr/>
          <p:nvPr/>
        </p:nvSpPr>
        <p:spPr>
          <a:xfrm rot="10800000">
            <a:off x="1728810" y="5170299"/>
            <a:ext cx="791400" cy="800700"/>
          </a:xfrm>
          <a:prstGeom prst="triangle">
            <a:avLst>
              <a:gd fmla="val 49585" name="adj"/>
            </a:avLst>
          </a:prstGeom>
          <a:solidFill>
            <a:srgbClr val="1155CC"/>
          </a:solidFill>
          <a:ln cap="flat" cmpd="sng" w="8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50" lIns="79150" spcFirstLastPara="1" rIns="79150" wrap="square" tIns="7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2"/>
          </a:p>
        </p:txBody>
      </p:sp>
      <p:sp>
        <p:nvSpPr>
          <p:cNvPr id="393" name="Google Shape;393;g3e125265ec7_0_680"/>
          <p:cNvSpPr/>
          <p:nvPr/>
        </p:nvSpPr>
        <p:spPr>
          <a:xfrm rot="10800000">
            <a:off x="849735" y="3355400"/>
            <a:ext cx="2549700" cy="551700"/>
          </a:xfrm>
          <a:prstGeom prst="trapezoid">
            <a:avLst>
              <a:gd fmla="val 49996" name="adj"/>
            </a:avLst>
          </a:prstGeom>
          <a:solidFill>
            <a:srgbClr val="CAEEFB"/>
          </a:solidFill>
          <a:ln cap="flat" cmpd="sng" w="8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50" lIns="79150" spcFirstLastPara="1" rIns="79150" wrap="square" tIns="7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2"/>
          </a:p>
        </p:txBody>
      </p:sp>
      <p:sp>
        <p:nvSpPr>
          <p:cNvPr id="394" name="Google Shape;394;g3e125265ec7_0_680"/>
          <p:cNvSpPr/>
          <p:nvPr/>
        </p:nvSpPr>
        <p:spPr>
          <a:xfrm rot="10800000">
            <a:off x="1144581" y="3957534"/>
            <a:ext cx="1970700" cy="551700"/>
          </a:xfrm>
          <a:prstGeom prst="trapezoid">
            <a:avLst>
              <a:gd fmla="val 49996" name="adj"/>
            </a:avLst>
          </a:prstGeom>
          <a:solidFill>
            <a:srgbClr val="CAEEFB"/>
          </a:solidFill>
          <a:ln cap="flat" cmpd="sng" w="8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50" lIns="79150" spcFirstLastPara="1" rIns="79150" wrap="square" tIns="7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2"/>
          </a:p>
        </p:txBody>
      </p:sp>
      <p:sp>
        <p:nvSpPr>
          <p:cNvPr id="395" name="Google Shape;395;g3e125265ec7_0_680"/>
          <p:cNvSpPr/>
          <p:nvPr/>
        </p:nvSpPr>
        <p:spPr>
          <a:xfrm rot="10800000">
            <a:off x="1439406" y="4561425"/>
            <a:ext cx="1380900" cy="551700"/>
          </a:xfrm>
          <a:prstGeom prst="trapezoid">
            <a:avLst>
              <a:gd fmla="val 49996" name="adj"/>
            </a:avLst>
          </a:prstGeom>
          <a:solidFill>
            <a:srgbClr val="CAEEFB"/>
          </a:solidFill>
          <a:ln cap="flat" cmpd="sng" w="8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50" lIns="79150" spcFirstLastPara="1" rIns="79150" wrap="square" tIns="7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2"/>
          </a:p>
        </p:txBody>
      </p:sp>
      <p:sp>
        <p:nvSpPr>
          <p:cNvPr id="396" name="Google Shape;396;g3e125265ec7_0_680"/>
          <p:cNvSpPr txBox="1"/>
          <p:nvPr/>
        </p:nvSpPr>
        <p:spPr>
          <a:xfrm>
            <a:off x="1190310" y="3430124"/>
            <a:ext cx="18684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Teoria Geral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97" name="Google Shape;397;g3e125265ec7_0_680"/>
          <p:cNvSpPr txBox="1"/>
          <p:nvPr/>
        </p:nvSpPr>
        <p:spPr>
          <a:xfrm>
            <a:off x="1195735" y="3995774"/>
            <a:ext cx="18684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Hipótese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98" name="Google Shape;398;g3e125265ec7_0_680"/>
          <p:cNvSpPr txBox="1"/>
          <p:nvPr/>
        </p:nvSpPr>
        <p:spPr>
          <a:xfrm>
            <a:off x="1195735" y="4583049"/>
            <a:ext cx="18684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Observação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99" name="Google Shape;399;g3e125265ec7_0_680"/>
          <p:cNvSpPr txBox="1"/>
          <p:nvPr/>
        </p:nvSpPr>
        <p:spPr>
          <a:xfrm>
            <a:off x="98910" y="5353225"/>
            <a:ext cx="17220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D4ED8"/>
                </a:solidFill>
              </a:rPr>
              <a:t>Confirmação</a:t>
            </a:r>
            <a:endParaRPr b="1" sz="1800">
              <a:solidFill>
                <a:srgbClr val="1D4ED8"/>
              </a:solidFill>
            </a:endParaRPr>
          </a:p>
        </p:txBody>
      </p:sp>
      <p:pic>
        <p:nvPicPr>
          <p:cNvPr id="400" name="Google Shape;400;g3e125265ec7_0_6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42035" y="5263750"/>
            <a:ext cx="365100" cy="365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g3e125265ec7_0_680"/>
          <p:cNvSpPr txBox="1"/>
          <p:nvPr/>
        </p:nvSpPr>
        <p:spPr>
          <a:xfrm>
            <a:off x="849650" y="2671318"/>
            <a:ext cx="2549700" cy="475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A7D22"/>
                </a:solidFill>
              </a:rPr>
              <a:t>Raciocínio dedutivo</a:t>
            </a:r>
            <a:endParaRPr b="1" sz="1900">
              <a:solidFill>
                <a:srgbClr val="3A7D2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e125265ec7_0_862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3e125265ec7_0_862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Modelo de raciocínio dedutivo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408" name="Google Shape;408;g3e125265ec7_0_862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g3e125265ec7_0_862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e125265ec7_0_86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1" name="Google Shape;411;g3e125265ec7_0_8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412" name="Google Shape;412;g3e125265ec7_0_8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g3e125265ec7_0_862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414" name="Google Shape;414;g3e125265ec7_0_862"/>
          <p:cNvSpPr txBox="1"/>
          <p:nvPr/>
        </p:nvSpPr>
        <p:spPr>
          <a:xfrm>
            <a:off x="472575" y="1391397"/>
            <a:ext cx="11362200" cy="6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333333"/>
                </a:solidFill>
              </a:rPr>
              <a:t>Parte de premissas gerais para qualificar observações específicas.</a:t>
            </a:r>
            <a:endParaRPr sz="2600">
              <a:solidFill>
                <a:srgbClr val="333333"/>
              </a:solidFill>
            </a:endParaRPr>
          </a:p>
        </p:txBody>
      </p:sp>
      <p:sp>
        <p:nvSpPr>
          <p:cNvPr id="415" name="Google Shape;415;g3e125265ec7_0_862"/>
          <p:cNvSpPr/>
          <p:nvPr/>
        </p:nvSpPr>
        <p:spPr>
          <a:xfrm rot="10800000">
            <a:off x="2750910" y="5001362"/>
            <a:ext cx="791400" cy="800700"/>
          </a:xfrm>
          <a:prstGeom prst="triangle">
            <a:avLst>
              <a:gd fmla="val 49585" name="adj"/>
            </a:avLst>
          </a:prstGeom>
          <a:solidFill>
            <a:srgbClr val="1155CC"/>
          </a:solidFill>
          <a:ln cap="flat" cmpd="sng" w="8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50" lIns="79150" spcFirstLastPara="1" rIns="79150" wrap="square" tIns="7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2"/>
          </a:p>
        </p:txBody>
      </p:sp>
      <p:sp>
        <p:nvSpPr>
          <p:cNvPr id="416" name="Google Shape;416;g3e125265ec7_0_862"/>
          <p:cNvSpPr/>
          <p:nvPr/>
        </p:nvSpPr>
        <p:spPr>
          <a:xfrm rot="10800000">
            <a:off x="1871835" y="3186463"/>
            <a:ext cx="2549700" cy="551700"/>
          </a:xfrm>
          <a:prstGeom prst="trapezoid">
            <a:avLst>
              <a:gd fmla="val 49996" name="adj"/>
            </a:avLst>
          </a:prstGeom>
          <a:solidFill>
            <a:srgbClr val="CAEEFB"/>
          </a:solidFill>
          <a:ln cap="flat" cmpd="sng" w="8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50" lIns="79150" spcFirstLastPara="1" rIns="79150" wrap="square" tIns="7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2"/>
          </a:p>
        </p:txBody>
      </p:sp>
      <p:sp>
        <p:nvSpPr>
          <p:cNvPr id="417" name="Google Shape;417;g3e125265ec7_0_862"/>
          <p:cNvSpPr/>
          <p:nvPr/>
        </p:nvSpPr>
        <p:spPr>
          <a:xfrm rot="10800000">
            <a:off x="2166681" y="3788597"/>
            <a:ext cx="1970700" cy="551700"/>
          </a:xfrm>
          <a:prstGeom prst="trapezoid">
            <a:avLst>
              <a:gd fmla="val 49996" name="adj"/>
            </a:avLst>
          </a:prstGeom>
          <a:solidFill>
            <a:srgbClr val="CAEEFB"/>
          </a:solidFill>
          <a:ln cap="flat" cmpd="sng" w="8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50" lIns="79150" spcFirstLastPara="1" rIns="79150" wrap="square" tIns="7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2"/>
          </a:p>
        </p:txBody>
      </p:sp>
      <p:sp>
        <p:nvSpPr>
          <p:cNvPr id="418" name="Google Shape;418;g3e125265ec7_0_862"/>
          <p:cNvSpPr/>
          <p:nvPr/>
        </p:nvSpPr>
        <p:spPr>
          <a:xfrm rot="10800000">
            <a:off x="2461506" y="4392487"/>
            <a:ext cx="1380900" cy="551700"/>
          </a:xfrm>
          <a:prstGeom prst="trapezoid">
            <a:avLst>
              <a:gd fmla="val 49996" name="adj"/>
            </a:avLst>
          </a:prstGeom>
          <a:solidFill>
            <a:srgbClr val="CAEEFB"/>
          </a:solidFill>
          <a:ln cap="flat" cmpd="sng" w="8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50" lIns="79150" spcFirstLastPara="1" rIns="79150" wrap="square" tIns="7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2"/>
          </a:p>
        </p:txBody>
      </p:sp>
      <p:sp>
        <p:nvSpPr>
          <p:cNvPr id="419" name="Google Shape;419;g3e125265ec7_0_862"/>
          <p:cNvSpPr txBox="1"/>
          <p:nvPr/>
        </p:nvSpPr>
        <p:spPr>
          <a:xfrm>
            <a:off x="2212410" y="3261187"/>
            <a:ext cx="18684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Teoria Geral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420" name="Google Shape;420;g3e125265ec7_0_862"/>
          <p:cNvSpPr txBox="1"/>
          <p:nvPr/>
        </p:nvSpPr>
        <p:spPr>
          <a:xfrm>
            <a:off x="2217835" y="3826837"/>
            <a:ext cx="18684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Hipótese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421" name="Google Shape;421;g3e125265ec7_0_862"/>
          <p:cNvSpPr txBox="1"/>
          <p:nvPr/>
        </p:nvSpPr>
        <p:spPr>
          <a:xfrm>
            <a:off x="2217835" y="4414112"/>
            <a:ext cx="18684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Observação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422" name="Google Shape;422;g3e125265ec7_0_862"/>
          <p:cNvSpPr txBox="1"/>
          <p:nvPr/>
        </p:nvSpPr>
        <p:spPr>
          <a:xfrm>
            <a:off x="1121010" y="5184288"/>
            <a:ext cx="17220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D4ED8"/>
                </a:solidFill>
              </a:rPr>
              <a:t>Confirmação</a:t>
            </a:r>
            <a:endParaRPr b="1" sz="1800">
              <a:solidFill>
                <a:srgbClr val="1D4ED8"/>
              </a:solidFill>
            </a:endParaRPr>
          </a:p>
        </p:txBody>
      </p:sp>
      <p:pic>
        <p:nvPicPr>
          <p:cNvPr id="423" name="Google Shape;423;g3e125265ec7_0_8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4135" y="5094812"/>
            <a:ext cx="365100" cy="365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g3e125265ec7_0_862"/>
          <p:cNvSpPr txBox="1"/>
          <p:nvPr/>
        </p:nvSpPr>
        <p:spPr>
          <a:xfrm>
            <a:off x="1871750" y="2502381"/>
            <a:ext cx="2549700" cy="475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A7D22"/>
                </a:solidFill>
              </a:rPr>
              <a:t>Raciocínio dedutivo</a:t>
            </a:r>
            <a:endParaRPr b="1" sz="1900">
              <a:solidFill>
                <a:srgbClr val="3A7D22"/>
              </a:solidFill>
            </a:endParaRPr>
          </a:p>
        </p:txBody>
      </p:sp>
      <p:sp>
        <p:nvSpPr>
          <p:cNvPr id="425" name="Google Shape;425;g3e125265ec7_0_862"/>
          <p:cNvSpPr txBox="1"/>
          <p:nvPr/>
        </p:nvSpPr>
        <p:spPr>
          <a:xfrm>
            <a:off x="5385275" y="2453300"/>
            <a:ext cx="62424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91B1B"/>
                </a:solidFill>
              </a:rPr>
              <a:t>Exemplo:</a:t>
            </a:r>
            <a:endParaRPr b="1" sz="2400">
              <a:solidFill>
                <a:srgbClr val="991B1B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b="1" lang="en-US" sz="1800">
                <a:solidFill>
                  <a:srgbClr val="333333"/>
                </a:solidFill>
              </a:rPr>
              <a:t>Teoria geral:</a:t>
            </a:r>
            <a:r>
              <a:rPr lang="en-US" sz="1800">
                <a:solidFill>
                  <a:srgbClr val="333333"/>
                </a:solidFill>
              </a:rPr>
              <a:t> Todas as políticas de transparência reduzem a corrupção.</a:t>
            </a:r>
            <a:endParaRPr sz="1800">
              <a:solidFill>
                <a:srgbClr val="333333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b="1" lang="en-US" sz="1800">
                <a:solidFill>
                  <a:srgbClr val="333333"/>
                </a:solidFill>
              </a:rPr>
              <a:t>Hipótese:</a:t>
            </a:r>
            <a:r>
              <a:rPr lang="en-US" sz="1800">
                <a:solidFill>
                  <a:srgbClr val="333333"/>
                </a:solidFill>
              </a:rPr>
              <a:t> A Lei X reduz corrupção?</a:t>
            </a:r>
            <a:endParaRPr sz="1800">
              <a:solidFill>
                <a:srgbClr val="333333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b="1" lang="en-US" sz="1800">
                <a:solidFill>
                  <a:srgbClr val="333333"/>
                </a:solidFill>
              </a:rPr>
              <a:t>Observação:</a:t>
            </a:r>
            <a:r>
              <a:rPr lang="en-US" sz="1800">
                <a:solidFill>
                  <a:srgbClr val="333333"/>
                </a:solidFill>
              </a:rPr>
              <a:t> A Lei X tem elementos de transparência</a:t>
            </a:r>
            <a:endParaRPr sz="1800">
              <a:solidFill>
                <a:srgbClr val="333333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333333"/>
              </a:buClr>
              <a:buSzPts val="1800"/>
              <a:buChar char="●"/>
            </a:pPr>
            <a:r>
              <a:rPr b="1" lang="en-US" sz="1800">
                <a:solidFill>
                  <a:srgbClr val="1D4ED8"/>
                </a:solidFill>
              </a:rPr>
              <a:t>Confirmação:</a:t>
            </a:r>
            <a:r>
              <a:rPr lang="en-US" sz="1800">
                <a:solidFill>
                  <a:srgbClr val="333333"/>
                </a:solidFill>
              </a:rPr>
              <a:t> A Lei X reduz corrupção</a:t>
            </a:r>
            <a:endParaRPr sz="18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e125265ec7_0_897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e125265ec7_0_897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Modelo de raciocínio indutivo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432" name="Google Shape;432;g3e125265ec7_0_897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e125265ec7_0_897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e125265ec7_0_89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5" name="Google Shape;435;g3e125265ec7_0_8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436" name="Google Shape;436;g3e125265ec7_0_8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g3e125265ec7_0_897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438" name="Google Shape;438;g3e125265ec7_0_897"/>
          <p:cNvSpPr txBox="1"/>
          <p:nvPr/>
        </p:nvSpPr>
        <p:spPr>
          <a:xfrm>
            <a:off x="472575" y="1391397"/>
            <a:ext cx="11362200" cy="6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333333"/>
                </a:solidFill>
              </a:rPr>
              <a:t>Parte de observaç</a:t>
            </a:r>
            <a:r>
              <a:rPr lang="en-US" sz="2600">
                <a:solidFill>
                  <a:srgbClr val="333333"/>
                </a:solidFill>
              </a:rPr>
              <a:t>ões específicas para inferir</a:t>
            </a:r>
            <a:r>
              <a:rPr lang="en-US" sz="2600">
                <a:solidFill>
                  <a:srgbClr val="333333"/>
                </a:solidFill>
              </a:rPr>
              <a:t> teorias gerais.</a:t>
            </a:r>
            <a:endParaRPr sz="2600">
              <a:solidFill>
                <a:srgbClr val="333333"/>
              </a:solidFill>
            </a:endParaRPr>
          </a:p>
        </p:txBody>
      </p:sp>
      <p:sp>
        <p:nvSpPr>
          <p:cNvPr id="439" name="Google Shape;439;g3e125265ec7_0_897"/>
          <p:cNvSpPr txBox="1"/>
          <p:nvPr/>
        </p:nvSpPr>
        <p:spPr>
          <a:xfrm>
            <a:off x="4846750" y="2160350"/>
            <a:ext cx="71106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991B1B"/>
                </a:solidFill>
              </a:rPr>
              <a:t>Exemplo:</a:t>
            </a:r>
            <a:endParaRPr b="1" sz="2200">
              <a:solidFill>
                <a:srgbClr val="991B1B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500"/>
              <a:buChar char="●"/>
            </a:pPr>
            <a:r>
              <a:rPr b="1" lang="en-US" sz="1500">
                <a:solidFill>
                  <a:srgbClr val="333333"/>
                </a:solidFill>
              </a:rPr>
              <a:t>Observações quantitativas</a:t>
            </a:r>
            <a:r>
              <a:rPr b="1" lang="en-US" sz="1500">
                <a:solidFill>
                  <a:srgbClr val="333333"/>
                </a:solidFill>
              </a:rPr>
              <a:t>:</a:t>
            </a:r>
            <a:r>
              <a:rPr lang="en-US" sz="1500">
                <a:solidFill>
                  <a:srgbClr val="333333"/>
                </a:solidFill>
              </a:rPr>
              <a:t> </a:t>
            </a:r>
            <a:r>
              <a:rPr lang="en-US" sz="1500">
                <a:solidFill>
                  <a:srgbClr val="333333"/>
                </a:solidFill>
              </a:rPr>
              <a:t>Unidade do Na Hora em Brasília (DF) tem aumento de 25% na demanda das 17h às 19h</a:t>
            </a:r>
            <a:endParaRPr sz="1500">
              <a:solidFill>
                <a:srgbClr val="333333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500"/>
              <a:buChar char="●"/>
            </a:pPr>
            <a:r>
              <a:rPr b="1" lang="en-US" sz="1500">
                <a:solidFill>
                  <a:srgbClr val="333333"/>
                </a:solidFill>
              </a:rPr>
              <a:t>Observações qualitativas:</a:t>
            </a:r>
            <a:r>
              <a:rPr lang="en-US" sz="1500">
                <a:solidFill>
                  <a:srgbClr val="333333"/>
                </a:solidFill>
              </a:rPr>
              <a:t> Pesquisas mostram que trabalhadores preferem resolver trâmites burocráticos após o horário comercial</a:t>
            </a:r>
            <a:endParaRPr sz="1500">
              <a:solidFill>
                <a:srgbClr val="333333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500"/>
              <a:buChar char="●"/>
            </a:pPr>
            <a:r>
              <a:rPr b="1" lang="en-US" sz="1500">
                <a:solidFill>
                  <a:srgbClr val="333333"/>
                </a:solidFill>
              </a:rPr>
              <a:t>Padrões</a:t>
            </a:r>
            <a:r>
              <a:rPr b="1" lang="en-US" sz="1500">
                <a:solidFill>
                  <a:srgbClr val="333333"/>
                </a:solidFill>
              </a:rPr>
              <a:t>:</a:t>
            </a:r>
            <a:r>
              <a:rPr lang="en-US" sz="1500">
                <a:solidFill>
                  <a:srgbClr val="333333"/>
                </a:solidFill>
              </a:rPr>
              <a:t> Prefeituras de SP registram pico de atendimento na mesma faixa hor</a:t>
            </a:r>
            <a:r>
              <a:rPr lang="en-US" sz="1500">
                <a:solidFill>
                  <a:srgbClr val="333333"/>
                </a:solidFill>
              </a:rPr>
              <a:t>ária</a:t>
            </a:r>
            <a:endParaRPr sz="1500">
              <a:solidFill>
                <a:srgbClr val="333333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500"/>
              <a:buChar char="●"/>
            </a:pPr>
            <a:r>
              <a:rPr b="1" lang="en-US" sz="1500">
                <a:solidFill>
                  <a:srgbClr val="333333"/>
                </a:solidFill>
              </a:rPr>
              <a:t>Hip</a:t>
            </a:r>
            <a:r>
              <a:rPr b="1" lang="en-US" sz="1500">
                <a:solidFill>
                  <a:srgbClr val="333333"/>
                </a:solidFill>
              </a:rPr>
              <a:t>ótese:</a:t>
            </a:r>
            <a:r>
              <a:rPr lang="en-US" sz="1500">
                <a:solidFill>
                  <a:srgbClr val="333333"/>
                </a:solidFill>
              </a:rPr>
              <a:t> Trabalhadores vão no Na Hora (Brasília) após o horário comercial para resolver trâmites burocráticos.</a:t>
            </a:r>
            <a:endParaRPr sz="1500">
              <a:solidFill>
                <a:srgbClr val="333333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333333"/>
              </a:buClr>
              <a:buSzPts val="1500"/>
              <a:buChar char="●"/>
            </a:pPr>
            <a:r>
              <a:rPr b="1" lang="en-US" sz="1500">
                <a:solidFill>
                  <a:srgbClr val="1D4ED8"/>
                </a:solidFill>
              </a:rPr>
              <a:t>Teoria geral</a:t>
            </a:r>
            <a:r>
              <a:rPr b="1" lang="en-US" sz="1500">
                <a:solidFill>
                  <a:srgbClr val="1D4ED8"/>
                </a:solidFill>
              </a:rPr>
              <a:t>:</a:t>
            </a:r>
            <a:r>
              <a:rPr lang="en-US" sz="1500">
                <a:solidFill>
                  <a:srgbClr val="333333"/>
                </a:solidFill>
              </a:rPr>
              <a:t> Ampliar o hor</a:t>
            </a:r>
            <a:r>
              <a:rPr lang="en-US" sz="1500">
                <a:solidFill>
                  <a:srgbClr val="333333"/>
                </a:solidFill>
              </a:rPr>
              <a:t>ário de atendimento de órgãos públicos em Brasília para o período noturno melhora o acesso do cidadão aos serviços.</a:t>
            </a:r>
            <a:endParaRPr sz="1500">
              <a:solidFill>
                <a:srgbClr val="333333"/>
              </a:solidFill>
            </a:endParaRPr>
          </a:p>
        </p:txBody>
      </p:sp>
      <p:sp>
        <p:nvSpPr>
          <p:cNvPr id="440" name="Google Shape;440;g3e125265ec7_0_897"/>
          <p:cNvSpPr/>
          <p:nvPr/>
        </p:nvSpPr>
        <p:spPr>
          <a:xfrm>
            <a:off x="2131988" y="3188675"/>
            <a:ext cx="791400" cy="800700"/>
          </a:xfrm>
          <a:prstGeom prst="triangle">
            <a:avLst>
              <a:gd fmla="val 49585" name="adj"/>
            </a:avLst>
          </a:prstGeom>
          <a:solidFill>
            <a:srgbClr val="1155CC"/>
          </a:solidFill>
          <a:ln cap="flat" cmpd="sng" w="8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50" lIns="79150" spcFirstLastPara="1" rIns="79150" wrap="square" tIns="7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2"/>
          </a:p>
        </p:txBody>
      </p:sp>
      <p:sp>
        <p:nvSpPr>
          <p:cNvPr id="441" name="Google Shape;441;g3e125265ec7_0_897"/>
          <p:cNvSpPr/>
          <p:nvPr/>
        </p:nvSpPr>
        <p:spPr>
          <a:xfrm>
            <a:off x="1252763" y="5252574"/>
            <a:ext cx="2549700" cy="551700"/>
          </a:xfrm>
          <a:prstGeom prst="trapezoid">
            <a:avLst>
              <a:gd fmla="val 49996" name="adj"/>
            </a:avLst>
          </a:prstGeom>
          <a:solidFill>
            <a:srgbClr val="CAEEFB"/>
          </a:solidFill>
          <a:ln cap="flat" cmpd="sng" w="8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50" lIns="79150" spcFirstLastPara="1" rIns="79150" wrap="square" tIns="7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2"/>
          </a:p>
        </p:txBody>
      </p:sp>
      <p:sp>
        <p:nvSpPr>
          <p:cNvPr id="442" name="Google Shape;442;g3e125265ec7_0_897"/>
          <p:cNvSpPr/>
          <p:nvPr/>
        </p:nvSpPr>
        <p:spPr>
          <a:xfrm>
            <a:off x="1536917" y="4650440"/>
            <a:ext cx="1970700" cy="551700"/>
          </a:xfrm>
          <a:prstGeom prst="trapezoid">
            <a:avLst>
              <a:gd fmla="val 49996" name="adj"/>
            </a:avLst>
          </a:prstGeom>
          <a:solidFill>
            <a:srgbClr val="CAEEFB"/>
          </a:solidFill>
          <a:ln cap="flat" cmpd="sng" w="8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50" lIns="79150" spcFirstLastPara="1" rIns="79150" wrap="square" tIns="7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2"/>
          </a:p>
        </p:txBody>
      </p:sp>
      <p:sp>
        <p:nvSpPr>
          <p:cNvPr id="443" name="Google Shape;443;g3e125265ec7_0_897"/>
          <p:cNvSpPr/>
          <p:nvPr/>
        </p:nvSpPr>
        <p:spPr>
          <a:xfrm>
            <a:off x="1831891" y="4046550"/>
            <a:ext cx="1380900" cy="551700"/>
          </a:xfrm>
          <a:prstGeom prst="trapezoid">
            <a:avLst>
              <a:gd fmla="val 49996" name="adj"/>
            </a:avLst>
          </a:prstGeom>
          <a:solidFill>
            <a:srgbClr val="CAEEFB"/>
          </a:solidFill>
          <a:ln cap="flat" cmpd="sng" w="8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50" lIns="79150" spcFirstLastPara="1" rIns="79150" wrap="square" tIns="7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2"/>
          </a:p>
        </p:txBody>
      </p:sp>
      <p:sp>
        <p:nvSpPr>
          <p:cNvPr id="444" name="Google Shape;444;g3e125265ec7_0_897"/>
          <p:cNvSpPr txBox="1"/>
          <p:nvPr/>
        </p:nvSpPr>
        <p:spPr>
          <a:xfrm>
            <a:off x="1593488" y="5298312"/>
            <a:ext cx="18684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Observação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445" name="Google Shape;445;g3e125265ec7_0_897"/>
          <p:cNvSpPr txBox="1"/>
          <p:nvPr/>
        </p:nvSpPr>
        <p:spPr>
          <a:xfrm>
            <a:off x="1588063" y="4699690"/>
            <a:ext cx="18684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Padrões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446" name="Google Shape;446;g3e125265ec7_0_897"/>
          <p:cNvSpPr txBox="1"/>
          <p:nvPr/>
        </p:nvSpPr>
        <p:spPr>
          <a:xfrm>
            <a:off x="1588063" y="4101425"/>
            <a:ext cx="18684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Hipótese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447" name="Google Shape;447;g3e125265ec7_0_897"/>
          <p:cNvSpPr txBox="1"/>
          <p:nvPr/>
        </p:nvSpPr>
        <p:spPr>
          <a:xfrm>
            <a:off x="2868438" y="3449088"/>
            <a:ext cx="18684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D4ED8"/>
                </a:solidFill>
              </a:rPr>
              <a:t>Teoria geral</a:t>
            </a:r>
            <a:endParaRPr b="1" sz="1800">
              <a:solidFill>
                <a:srgbClr val="1D4ED8"/>
              </a:solidFill>
            </a:endParaRPr>
          </a:p>
        </p:txBody>
      </p:sp>
      <p:pic>
        <p:nvPicPr>
          <p:cNvPr id="448" name="Google Shape;448;g3e125265ec7_0_8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5062" y="3530825"/>
            <a:ext cx="365100" cy="3651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g3e125265ec7_0_897"/>
          <p:cNvSpPr txBox="1"/>
          <p:nvPr/>
        </p:nvSpPr>
        <p:spPr>
          <a:xfrm>
            <a:off x="1252838" y="2477181"/>
            <a:ext cx="2549700" cy="475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A7D22"/>
                </a:solidFill>
              </a:rPr>
              <a:t>Raciocínio indutivo</a:t>
            </a:r>
            <a:endParaRPr b="1" sz="1900">
              <a:solidFill>
                <a:srgbClr val="3A7D2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e125265ec7_0_956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e125265ec7_0_956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O que é uma teoria?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456" name="Google Shape;456;g3e125265ec7_0_956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3e125265ec7_0_956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3e125265ec7_0_95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9" name="Google Shape;459;g3e125265ec7_0_9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460" name="Google Shape;460;g3e125265ec7_0_9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g3e125265ec7_0_956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462" name="Google Shape;462;g3e125265ec7_0_956"/>
          <p:cNvSpPr txBox="1"/>
          <p:nvPr/>
        </p:nvSpPr>
        <p:spPr>
          <a:xfrm>
            <a:off x="472575" y="1263475"/>
            <a:ext cx="11362200" cy="4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333333"/>
                </a:solidFill>
              </a:rPr>
              <a:t>Modelo da realidade fundamentado em ideias, conceitos, princípios, obser- vações, testes e evidências para explicar um certo fenômeno observado</a:t>
            </a:r>
            <a:r>
              <a:rPr lang="en-US" sz="2600">
                <a:solidFill>
                  <a:srgbClr val="333333"/>
                </a:solidFill>
              </a:rPr>
              <a:t>.</a:t>
            </a:r>
            <a:endParaRPr sz="26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333333"/>
              </a:solidFill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Char char="●"/>
            </a:pPr>
            <a:r>
              <a:rPr lang="en-US" sz="2200">
                <a:solidFill>
                  <a:srgbClr val="333333"/>
                </a:solidFill>
              </a:rPr>
              <a:t>Cientistas (trabalhadores da Ciência) desenvolvem e testam teorias</a:t>
            </a:r>
            <a:endParaRPr sz="2200">
              <a:solidFill>
                <a:srgbClr val="333333"/>
              </a:solidFill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200"/>
              <a:buChar char="●"/>
            </a:pPr>
            <a:r>
              <a:rPr b="1" lang="en-US" sz="2200">
                <a:solidFill>
                  <a:srgbClr val="333333"/>
                </a:solidFill>
              </a:rPr>
              <a:t>Testar uma teoria</a:t>
            </a:r>
            <a:r>
              <a:rPr b="1" lang="en-US" sz="2200">
                <a:solidFill>
                  <a:srgbClr val="333333"/>
                </a:solidFill>
              </a:rPr>
              <a:t>:</a:t>
            </a:r>
            <a:endParaRPr sz="2200">
              <a:solidFill>
                <a:srgbClr val="333333"/>
              </a:solidFill>
            </a:endParaRPr>
          </a:p>
          <a:p>
            <a:pPr indent="-361950" lvl="1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100"/>
              <a:buChar char="○"/>
            </a:pPr>
            <a:r>
              <a:rPr lang="en-US" sz="2100">
                <a:solidFill>
                  <a:srgbClr val="333333"/>
                </a:solidFill>
              </a:rPr>
              <a:t>Coloc</a:t>
            </a:r>
            <a:r>
              <a:rPr lang="en-US" sz="2100">
                <a:solidFill>
                  <a:srgbClr val="333333"/>
                </a:solidFill>
              </a:rPr>
              <a:t>á-la na forma de hipóteses testáveis</a:t>
            </a:r>
            <a:endParaRPr sz="2100">
              <a:solidFill>
                <a:srgbClr val="333333"/>
              </a:solidFill>
            </a:endParaRPr>
          </a:p>
          <a:p>
            <a:pPr indent="-361950" lvl="1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100"/>
              <a:buChar char="○"/>
            </a:pPr>
            <a:r>
              <a:rPr b="1" lang="en-US" sz="2100">
                <a:solidFill>
                  <a:srgbClr val="333333"/>
                </a:solidFill>
              </a:rPr>
              <a:t>Hipótese nula (H0):</a:t>
            </a:r>
            <a:r>
              <a:rPr lang="en-US" sz="2100">
                <a:solidFill>
                  <a:srgbClr val="333333"/>
                </a:solidFill>
              </a:rPr>
              <a:t> Afirmação sobre um fenômeno que indica o comportamento observável caso a </a:t>
            </a:r>
            <a:r>
              <a:rPr lang="en-US" sz="2100" u="sng">
                <a:solidFill>
                  <a:srgbClr val="333333"/>
                </a:solidFill>
              </a:rPr>
              <a:t>variável independente</a:t>
            </a:r>
            <a:r>
              <a:rPr lang="en-US" sz="2100">
                <a:solidFill>
                  <a:srgbClr val="333333"/>
                </a:solidFill>
              </a:rPr>
              <a:t> não tenha efeito sobre a </a:t>
            </a:r>
            <a:r>
              <a:rPr lang="en-US" sz="2100" u="sng">
                <a:solidFill>
                  <a:srgbClr val="333333"/>
                </a:solidFill>
              </a:rPr>
              <a:t>variável dependente</a:t>
            </a:r>
            <a:r>
              <a:rPr lang="en-US" sz="2100">
                <a:solidFill>
                  <a:srgbClr val="333333"/>
                </a:solidFill>
              </a:rPr>
              <a:t>.</a:t>
            </a:r>
            <a:endParaRPr sz="2100">
              <a:solidFill>
                <a:srgbClr val="333333"/>
              </a:solidFill>
            </a:endParaRPr>
          </a:p>
          <a:p>
            <a:pPr indent="-361950" lvl="1" marL="13716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333333"/>
              </a:buClr>
              <a:buSzPts val="2100"/>
              <a:buChar char="○"/>
            </a:pPr>
            <a:r>
              <a:rPr b="1" lang="en-US" sz="2100">
                <a:solidFill>
                  <a:srgbClr val="333333"/>
                </a:solidFill>
              </a:rPr>
              <a:t>Hipótese alternativa (H1)</a:t>
            </a:r>
            <a:r>
              <a:rPr b="1" lang="en-US" sz="2100">
                <a:solidFill>
                  <a:srgbClr val="333333"/>
                </a:solidFill>
              </a:rPr>
              <a:t>:</a:t>
            </a:r>
            <a:r>
              <a:rPr lang="en-US" sz="2100">
                <a:solidFill>
                  <a:srgbClr val="333333"/>
                </a:solidFill>
              </a:rPr>
              <a:t> Afirmaç</a:t>
            </a:r>
            <a:r>
              <a:rPr lang="en-US" sz="2100">
                <a:solidFill>
                  <a:srgbClr val="333333"/>
                </a:solidFill>
              </a:rPr>
              <a:t>ão que desafia H0</a:t>
            </a:r>
            <a:endParaRPr sz="21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e125265ec7_0_969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e125265ec7_0_969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Variáveis independente e dependente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469" name="Google Shape;469;g3e125265ec7_0_969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3e125265ec7_0_969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g3e125265ec7_0_96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72" name="Google Shape;472;g3e125265ec7_0_9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473" name="Google Shape;473;g3e125265ec7_0_9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g3e125265ec7_0_969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475" name="Google Shape;475;g3e125265ec7_0_969"/>
          <p:cNvSpPr txBox="1"/>
          <p:nvPr/>
        </p:nvSpPr>
        <p:spPr>
          <a:xfrm>
            <a:off x="472575" y="1391416"/>
            <a:ext cx="11362200" cy="45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333333"/>
                </a:solidFill>
              </a:rPr>
              <a:t>Variável independente (VI):</a:t>
            </a:r>
            <a:endParaRPr b="1" sz="2600">
              <a:solidFill>
                <a:srgbClr val="333333"/>
              </a:solidFill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Char char="●"/>
            </a:pPr>
            <a:r>
              <a:rPr lang="en-US" sz="2200">
                <a:solidFill>
                  <a:srgbClr val="333333"/>
                </a:solidFill>
              </a:rPr>
              <a:t>Variável controláveis no estudo</a:t>
            </a:r>
            <a:endParaRPr sz="2200">
              <a:solidFill>
                <a:srgbClr val="333333"/>
              </a:solidFill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200"/>
              <a:buChar char="●"/>
            </a:pPr>
            <a:r>
              <a:rPr lang="en-US" sz="2200">
                <a:solidFill>
                  <a:srgbClr val="333333"/>
                </a:solidFill>
              </a:rPr>
              <a:t>Pode i</a:t>
            </a:r>
            <a:r>
              <a:rPr lang="en-US" sz="2200">
                <a:solidFill>
                  <a:srgbClr val="333333"/>
                </a:solidFill>
              </a:rPr>
              <a:t>nfluenciar mudanças na variável dependente</a:t>
            </a:r>
            <a:endParaRPr sz="2200">
              <a:solidFill>
                <a:srgbClr val="333333"/>
              </a:solidFill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200"/>
              <a:buChar char="●"/>
            </a:pPr>
            <a:r>
              <a:rPr b="1" lang="en-US" sz="2200">
                <a:solidFill>
                  <a:srgbClr val="333333"/>
                </a:solidFill>
              </a:rPr>
              <a:t>Exemplo:</a:t>
            </a:r>
            <a:r>
              <a:rPr lang="en-US" sz="2200">
                <a:solidFill>
                  <a:srgbClr val="333333"/>
                </a:solidFill>
              </a:rPr>
              <a:t> Quantidade de fertilizante usado em uma planta</a:t>
            </a:r>
            <a:endParaRPr sz="22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333333"/>
                </a:solidFill>
              </a:rPr>
              <a:t>Variável dependente (VD):</a:t>
            </a:r>
            <a:endParaRPr b="1" sz="2600">
              <a:solidFill>
                <a:srgbClr val="333333"/>
              </a:solidFill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Char char="●"/>
            </a:pPr>
            <a:r>
              <a:rPr lang="en-US" sz="2200">
                <a:solidFill>
                  <a:srgbClr val="333333"/>
                </a:solidFill>
              </a:rPr>
              <a:t>Variável observada no estudo</a:t>
            </a:r>
            <a:endParaRPr sz="2200">
              <a:solidFill>
                <a:srgbClr val="333333"/>
              </a:solidFill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200"/>
              <a:buChar char="●"/>
            </a:pPr>
            <a:r>
              <a:rPr lang="en-US" sz="2200">
                <a:solidFill>
                  <a:srgbClr val="333333"/>
                </a:solidFill>
              </a:rPr>
              <a:t>Pode sofrer influência das mudanças nas VIs</a:t>
            </a:r>
            <a:endParaRPr sz="2200">
              <a:solidFill>
                <a:srgbClr val="333333"/>
              </a:solidFill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333333"/>
              </a:buClr>
              <a:buSzPts val="2200"/>
              <a:buChar char="●"/>
            </a:pPr>
            <a:r>
              <a:rPr b="1" lang="en-US" sz="2200">
                <a:solidFill>
                  <a:srgbClr val="333333"/>
                </a:solidFill>
              </a:rPr>
              <a:t>Exemplo:</a:t>
            </a:r>
            <a:r>
              <a:rPr lang="en-US" sz="2200">
                <a:solidFill>
                  <a:srgbClr val="333333"/>
                </a:solidFill>
              </a:rPr>
              <a:t> Crescimento da planta</a:t>
            </a:r>
            <a:endParaRPr sz="22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e125265ec7_0_997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e125265ec7_0_997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Operacionalização de uma teoria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482" name="Google Shape;482;g3e125265ec7_0_997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3e125265ec7_0_997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g3e125265ec7_0_99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85" name="Google Shape;485;g3e125265ec7_0_9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486" name="Google Shape;486;g3e125265ec7_0_9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g3e125265ec7_0_997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488" name="Google Shape;488;g3e125265ec7_0_997"/>
          <p:cNvSpPr txBox="1"/>
          <p:nvPr/>
        </p:nvSpPr>
        <p:spPr>
          <a:xfrm>
            <a:off x="62275" y="5760863"/>
            <a:ext cx="817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757575"/>
                </a:solidFill>
              </a:rPr>
              <a:t>Fonte:</a:t>
            </a:r>
            <a:r>
              <a:rPr lang="en-US" sz="1000">
                <a:solidFill>
                  <a:srgbClr val="757575"/>
                </a:solidFill>
              </a:rPr>
              <a:t> KELLSTEDT, Paul M.; WHITTEN, Guy D. Fundamentos da pesquisa em ciência política. São Paulo: Blucher, 2021.</a:t>
            </a:r>
            <a:endParaRPr sz="1000">
              <a:solidFill>
                <a:srgbClr val="757575"/>
              </a:solidFill>
            </a:endParaRPr>
          </a:p>
        </p:txBody>
      </p:sp>
      <p:pic>
        <p:nvPicPr>
          <p:cNvPr id="489" name="Google Shape;489;g3e125265ec7_0_997"/>
          <p:cNvPicPr preferRelativeResize="0"/>
          <p:nvPr/>
        </p:nvPicPr>
        <p:blipFill rotWithShape="1">
          <a:blip r:embed="rId5">
            <a:alphaModFix/>
          </a:blip>
          <a:srcRect b="5065" l="0" r="0" t="21102"/>
          <a:stretch/>
        </p:blipFill>
        <p:spPr>
          <a:xfrm>
            <a:off x="800100" y="1266488"/>
            <a:ext cx="10591788" cy="436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e125265ec7_0_981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3e125265ec7_0_981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Exemplo de teste de hipótese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496" name="Google Shape;496;g3e125265ec7_0_981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g3e125265ec7_0_981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g3e125265ec7_0_98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99" name="Google Shape;499;g3e125265ec7_0_9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500" name="Google Shape;500;g3e125265ec7_0_9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g3e125265ec7_0_981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502" name="Google Shape;502;g3e125265ec7_0_981"/>
          <p:cNvSpPr txBox="1"/>
          <p:nvPr/>
        </p:nvSpPr>
        <p:spPr>
          <a:xfrm>
            <a:off x="472575" y="1391416"/>
            <a:ext cx="11362200" cy="45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33333"/>
                </a:solidFill>
              </a:rPr>
              <a:t>Uma Secretaria de Saúde implementou um novo programa de triagem para reduzir o tempo de espera nas Unidades de Pronto Atendimento (UPAs).</a:t>
            </a:r>
            <a:endParaRPr sz="19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33333"/>
                </a:solidFill>
              </a:rPr>
              <a:t>Historicamente, o </a:t>
            </a:r>
            <a:r>
              <a:rPr b="1" lang="en-US" sz="1900">
                <a:solidFill>
                  <a:srgbClr val="333333"/>
                </a:solidFill>
              </a:rPr>
              <a:t>tempo médio de espera era de 60 minutos</a:t>
            </a:r>
            <a:r>
              <a:rPr lang="en-US" sz="1900">
                <a:solidFill>
                  <a:srgbClr val="333333"/>
                </a:solidFill>
              </a:rPr>
              <a:t>. Após a implementação, uma </a:t>
            </a:r>
            <a:r>
              <a:rPr b="1" lang="en-US" sz="1900">
                <a:solidFill>
                  <a:srgbClr val="333333"/>
                </a:solidFill>
              </a:rPr>
              <a:t>amostra de 100 atendimentos</a:t>
            </a:r>
            <a:r>
              <a:rPr lang="en-US" sz="1900">
                <a:solidFill>
                  <a:srgbClr val="333333"/>
                </a:solidFill>
              </a:rPr>
              <a:t> indicou um </a:t>
            </a:r>
            <a:r>
              <a:rPr b="1" lang="en-US" sz="1900">
                <a:solidFill>
                  <a:srgbClr val="333333"/>
                </a:solidFill>
              </a:rPr>
              <a:t>tempo médio de espera de 54 minutos</a:t>
            </a:r>
            <a:r>
              <a:rPr lang="en-US" sz="1900">
                <a:solidFill>
                  <a:srgbClr val="333333"/>
                </a:solidFill>
              </a:rPr>
              <a:t>.</a:t>
            </a:r>
            <a:endParaRPr sz="19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33333"/>
                </a:solidFill>
              </a:rPr>
              <a:t>O gestor precisa saber se essa redução é real ou um acaso da amostra.</a:t>
            </a:r>
            <a:endParaRPr sz="2000">
              <a:solidFill>
                <a:srgbClr val="333333"/>
              </a:solidFill>
            </a:endParaRPr>
          </a:p>
          <a:p>
            <a:pPr indent="-349250" lvl="0" marL="91440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rgbClr val="333333"/>
              </a:buClr>
              <a:buSzPts val="1900"/>
              <a:buChar char="●"/>
            </a:pPr>
            <a:r>
              <a:rPr b="1" lang="en-US" sz="1900">
                <a:solidFill>
                  <a:srgbClr val="333333"/>
                </a:solidFill>
              </a:rPr>
              <a:t>H0 (hipótese nula):</a:t>
            </a:r>
            <a:r>
              <a:rPr lang="en-US" sz="1900">
                <a:solidFill>
                  <a:srgbClr val="333333"/>
                </a:solidFill>
              </a:rPr>
              <a:t> O tempo médio de espera continua sendo igual a 60 minutos (</a:t>
            </a:r>
            <a:r>
              <a:rPr i="1" lang="en-US" sz="1900">
                <a:solidFill>
                  <a:srgbClr val="333333"/>
                </a:solidFill>
              </a:rPr>
              <a:t>μ </a:t>
            </a:r>
            <a:r>
              <a:rPr lang="en-US" sz="1900">
                <a:solidFill>
                  <a:srgbClr val="333333"/>
                </a:solidFill>
              </a:rPr>
              <a:t>= 60). </a:t>
            </a:r>
            <a:r>
              <a:rPr i="1" lang="en-US" sz="1900">
                <a:solidFill>
                  <a:srgbClr val="333333"/>
                </a:solidFill>
              </a:rPr>
              <a:t>Significa que o programa não teve efeito prático.</a:t>
            </a:r>
            <a:endParaRPr i="1" sz="1900">
              <a:solidFill>
                <a:srgbClr val="333333"/>
              </a:solidFill>
            </a:endParaRPr>
          </a:p>
          <a:p>
            <a:pPr indent="-349250" lvl="0" marL="914400" rtl="0" algn="l">
              <a:lnSpc>
                <a:spcPct val="115000"/>
              </a:lnSpc>
              <a:spcBef>
                <a:spcPts val="3000"/>
              </a:spcBef>
              <a:spcAft>
                <a:spcPts val="1000"/>
              </a:spcAft>
              <a:buClr>
                <a:srgbClr val="333333"/>
              </a:buClr>
              <a:buSzPts val="1900"/>
              <a:buChar char="●"/>
            </a:pPr>
            <a:r>
              <a:rPr b="1" lang="en-US" sz="1900">
                <a:solidFill>
                  <a:srgbClr val="333333"/>
                </a:solidFill>
              </a:rPr>
              <a:t>H1 (hip</a:t>
            </a:r>
            <a:r>
              <a:rPr b="1" lang="en-US" sz="1900">
                <a:solidFill>
                  <a:srgbClr val="333333"/>
                </a:solidFill>
              </a:rPr>
              <a:t>ótese alternativa):</a:t>
            </a:r>
            <a:r>
              <a:rPr lang="en-US" sz="1900">
                <a:solidFill>
                  <a:srgbClr val="333333"/>
                </a:solidFill>
              </a:rPr>
              <a:t> </a:t>
            </a:r>
            <a:r>
              <a:rPr lang="en-US" sz="1900">
                <a:solidFill>
                  <a:srgbClr val="333333"/>
                </a:solidFill>
              </a:rPr>
              <a:t>O tempo médio de espera agora é menor que 60 minutos (</a:t>
            </a:r>
            <a:r>
              <a:rPr i="1" lang="en-US" sz="1900">
                <a:solidFill>
                  <a:srgbClr val="333333"/>
                </a:solidFill>
              </a:rPr>
              <a:t>μ </a:t>
            </a:r>
            <a:r>
              <a:rPr lang="en-US" sz="1900">
                <a:solidFill>
                  <a:srgbClr val="333333"/>
                </a:solidFill>
              </a:rPr>
              <a:t>&lt; 60). </a:t>
            </a:r>
            <a:r>
              <a:rPr i="1" lang="en-US" sz="1900">
                <a:solidFill>
                  <a:srgbClr val="333333"/>
                </a:solidFill>
              </a:rPr>
              <a:t>Significa que o programa foi eficaz.</a:t>
            </a:r>
            <a:endParaRPr sz="19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e125265ec7_0_1012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g3e125265ec7_0_1012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4762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“Regras de Ouro” da Pesquisa Científica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509" name="Google Shape;509;g3e125265ec7_0_1012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g3e125265ec7_0_1012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3e125265ec7_0_10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12" name="Google Shape;512;g3e125265ec7_0_10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513" name="Google Shape;513;g3e125265ec7_0_10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g3e125265ec7_0_1012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pic>
        <p:nvPicPr>
          <p:cNvPr id="515" name="Google Shape;515;g3e125265ec7_0_10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790" y="1234482"/>
            <a:ext cx="12122399" cy="112465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g3e125265ec7_0_1012"/>
          <p:cNvSpPr txBox="1"/>
          <p:nvPr/>
        </p:nvSpPr>
        <p:spPr>
          <a:xfrm>
            <a:off x="304300" y="2609175"/>
            <a:ext cx="11730300" cy="12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rgbClr val="333333"/>
                </a:solidFill>
              </a:rPr>
              <a:t>Pensar em termos de causa e efeito, e não de correlação</a:t>
            </a:r>
            <a:endParaRPr b="1" sz="1900">
              <a:solidFill>
                <a:srgbClr val="333333"/>
              </a:solidFill>
            </a:endParaRPr>
          </a:p>
          <a:p>
            <a:pPr indent="-336550" lvl="2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Char char="■"/>
            </a:pPr>
            <a:r>
              <a:rPr lang="en-US" sz="1700">
                <a:solidFill>
                  <a:srgbClr val="333333"/>
                </a:solidFill>
              </a:rPr>
              <a:t>Correlação é diferente de causa</a:t>
            </a:r>
            <a:endParaRPr sz="1700">
              <a:solidFill>
                <a:srgbClr val="333333"/>
              </a:solidFill>
            </a:endParaRPr>
          </a:p>
          <a:p>
            <a:pPr indent="-336550" lvl="2" marL="91440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333333"/>
              </a:buClr>
              <a:buSzPts val="1700"/>
              <a:buChar char="■"/>
            </a:pPr>
            <a:r>
              <a:rPr lang="en-US" sz="1700">
                <a:solidFill>
                  <a:srgbClr val="333333"/>
                </a:solidFill>
              </a:rPr>
              <a:t>Correlações espúrias…</a:t>
            </a:r>
            <a:endParaRPr sz="1700">
              <a:solidFill>
                <a:srgbClr val="333333"/>
              </a:solidFill>
            </a:endParaRPr>
          </a:p>
        </p:txBody>
      </p:sp>
      <p:pic>
        <p:nvPicPr>
          <p:cNvPr id="517" name="Google Shape;517;g3e125265ec7_0_10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7213" y="4020963"/>
            <a:ext cx="3840219" cy="1950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g3e125265ec7_0_10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70631" y="4020975"/>
            <a:ext cx="4124215" cy="1950036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g3e125265ec7_0_1012"/>
          <p:cNvSpPr txBox="1"/>
          <p:nvPr/>
        </p:nvSpPr>
        <p:spPr>
          <a:xfrm>
            <a:off x="8146800" y="3503488"/>
            <a:ext cx="367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757575"/>
                </a:solidFill>
              </a:rPr>
              <a:t>Fonte:</a:t>
            </a:r>
            <a:r>
              <a:rPr lang="en-US" sz="1000">
                <a:solidFill>
                  <a:srgbClr val="757575"/>
                </a:solidFill>
              </a:rPr>
              <a:t> </a:t>
            </a:r>
            <a:r>
              <a:rPr lang="en-US" sz="1000">
                <a:solidFill>
                  <a:srgbClr val="757575"/>
                </a:solidFill>
              </a:rPr>
              <a:t>https://www.tylervigen.com/spurious-correlations</a:t>
            </a:r>
            <a:endParaRPr sz="1000">
              <a:solidFill>
                <a:srgbClr val="757575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e125265ec7_0_1071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e125265ec7_0_1071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4762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“Regras de Ouro” da Pesquisa Científica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526" name="Google Shape;526;g3e125265ec7_0_1071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3e125265ec7_0_1071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g3e125265ec7_0_107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29" name="Google Shape;529;g3e125265ec7_0_10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530" name="Google Shape;530;g3e125265ec7_0_10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g3e125265ec7_0_1071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532" name="Google Shape;532;g3e125265ec7_0_1071"/>
          <p:cNvSpPr txBox="1"/>
          <p:nvPr/>
        </p:nvSpPr>
        <p:spPr>
          <a:xfrm>
            <a:off x="12474075" y="3381000"/>
            <a:ext cx="6814200" cy="1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33333"/>
                </a:solidFill>
              </a:rPr>
              <a:t>Desenvolver a teoria antes de observar os dados</a:t>
            </a:r>
            <a:endParaRPr b="1" sz="1900">
              <a:solidFill>
                <a:srgbClr val="333333"/>
              </a:solidFill>
            </a:endParaRPr>
          </a:p>
          <a:p>
            <a:pPr indent="-336550" lvl="2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Char char="■"/>
            </a:pPr>
            <a:r>
              <a:rPr lang="en-US" sz="1700">
                <a:solidFill>
                  <a:srgbClr val="333333"/>
                </a:solidFill>
              </a:rPr>
              <a:t>Usar sobretudo argumentação lógica racional</a:t>
            </a:r>
            <a:endParaRPr sz="1700">
              <a:solidFill>
                <a:srgbClr val="333333"/>
              </a:solidFill>
            </a:endParaRPr>
          </a:p>
          <a:p>
            <a:pPr indent="-336550" lvl="2" marL="91440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333333"/>
              </a:buClr>
              <a:buSzPts val="1700"/>
              <a:buChar char="■"/>
            </a:pPr>
            <a:r>
              <a:rPr lang="en-US" sz="1700">
                <a:solidFill>
                  <a:srgbClr val="333333"/>
                </a:solidFill>
              </a:rPr>
              <a:t>Dados são usados para testar a teoria</a:t>
            </a:r>
            <a:endParaRPr sz="1700">
              <a:solidFill>
                <a:srgbClr val="333333"/>
              </a:solidFill>
            </a:endParaRPr>
          </a:p>
        </p:txBody>
      </p:sp>
      <p:pic>
        <p:nvPicPr>
          <p:cNvPr id="533" name="Google Shape;533;g3e125265ec7_0_10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234482"/>
            <a:ext cx="12192000" cy="1131103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g3e125265ec7_0_1071"/>
          <p:cNvSpPr txBox="1"/>
          <p:nvPr/>
        </p:nvSpPr>
        <p:spPr>
          <a:xfrm>
            <a:off x="304300" y="2609175"/>
            <a:ext cx="11730300" cy="3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33333"/>
                </a:solidFill>
              </a:rPr>
              <a:t>Desenvolver a teoria antes de observar os dados</a:t>
            </a:r>
            <a:endParaRPr b="1" sz="1900">
              <a:solidFill>
                <a:srgbClr val="333333"/>
              </a:solidFill>
            </a:endParaRPr>
          </a:p>
          <a:p>
            <a:pPr indent="-3365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Char char="■"/>
            </a:pPr>
            <a:r>
              <a:rPr lang="en-US" sz="1700">
                <a:solidFill>
                  <a:srgbClr val="333333"/>
                </a:solidFill>
              </a:rPr>
              <a:t>Usar sobretudo argumentação lógica racional</a:t>
            </a:r>
            <a:endParaRPr sz="1700">
              <a:solidFill>
                <a:srgbClr val="333333"/>
              </a:solidFill>
            </a:endParaRPr>
          </a:p>
          <a:p>
            <a:pPr indent="-336550" lvl="2" marL="137160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333333"/>
              </a:buClr>
              <a:buSzPts val="1700"/>
              <a:buChar char="■"/>
            </a:pPr>
            <a:r>
              <a:rPr lang="en-US" sz="1700">
                <a:solidFill>
                  <a:srgbClr val="333333"/>
                </a:solidFill>
              </a:rPr>
              <a:t>Dados são usados para testar a teoria</a:t>
            </a:r>
            <a:endParaRPr b="1" sz="1900">
              <a:solidFill>
                <a:srgbClr val="333333"/>
              </a:solidFill>
            </a:endParaRPr>
          </a:p>
        </p:txBody>
      </p:sp>
      <p:pic>
        <p:nvPicPr>
          <p:cNvPr id="535" name="Google Shape;535;g3e125265ec7_0_10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84475" y="2921275"/>
            <a:ext cx="2464025" cy="2464025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g3e125265ec7_0_1071"/>
          <p:cNvSpPr txBox="1"/>
          <p:nvPr/>
        </p:nvSpPr>
        <p:spPr>
          <a:xfrm>
            <a:off x="7484475" y="5516750"/>
            <a:ext cx="24639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33333"/>
                </a:solidFill>
              </a:rPr>
              <a:t>Darrel Huff, 1954</a:t>
            </a:r>
            <a:endParaRPr sz="19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e125265ec7_0_1098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e125265ec7_0_1098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4762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“Regras de Ouro” da Pesquisa Científica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543" name="Google Shape;543;g3e125265ec7_0_1098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g3e125265ec7_0_1098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g3e125265ec7_0_109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46" name="Google Shape;546;g3e125265ec7_0_10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547" name="Google Shape;547;g3e125265ec7_0_10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g3e125265ec7_0_1098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pic>
        <p:nvPicPr>
          <p:cNvPr id="549" name="Google Shape;549;g3e125265ec7_0_10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234483"/>
            <a:ext cx="12192000" cy="1148966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g3e125265ec7_0_1098"/>
          <p:cNvSpPr txBox="1"/>
          <p:nvPr/>
        </p:nvSpPr>
        <p:spPr>
          <a:xfrm>
            <a:off x="304300" y="2609175"/>
            <a:ext cx="11730300" cy="3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33333"/>
                </a:solidFill>
              </a:rPr>
              <a:t>Teoria precisa ser </a:t>
            </a:r>
            <a:r>
              <a:rPr b="1" lang="en-US" sz="1900">
                <a:solidFill>
                  <a:srgbClr val="C00000"/>
                </a:solidFill>
              </a:rPr>
              <a:t>falseável</a:t>
            </a:r>
            <a:r>
              <a:rPr b="1" lang="en-US" sz="1900">
                <a:solidFill>
                  <a:srgbClr val="333333"/>
                </a:solidFill>
              </a:rPr>
              <a:t> e testada</a:t>
            </a:r>
            <a:endParaRPr b="1" sz="1900">
              <a:solidFill>
                <a:srgbClr val="333333"/>
              </a:solidFill>
            </a:endParaRPr>
          </a:p>
          <a:p>
            <a:pPr indent="-3365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Char char="■"/>
            </a:pPr>
            <a:r>
              <a:rPr lang="en-US" sz="1700">
                <a:solidFill>
                  <a:srgbClr val="333333"/>
                </a:solidFill>
              </a:rPr>
              <a:t>Baseada apenas em evidências empíricas</a:t>
            </a:r>
            <a:endParaRPr sz="1700">
              <a:solidFill>
                <a:srgbClr val="333333"/>
              </a:solidFill>
            </a:endParaRPr>
          </a:p>
          <a:p>
            <a:pPr indent="-3365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Char char="■"/>
            </a:pPr>
            <a:r>
              <a:rPr lang="en-US" sz="1700">
                <a:solidFill>
                  <a:srgbClr val="333333"/>
                </a:solidFill>
              </a:rPr>
              <a:t>Passível de ser refutada com novas evidências disponíveis</a:t>
            </a:r>
            <a:endParaRPr sz="1700">
              <a:solidFill>
                <a:srgbClr val="333333"/>
              </a:solidFill>
            </a:endParaRPr>
          </a:p>
          <a:p>
            <a:pPr indent="-3365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Char char="■"/>
            </a:pPr>
            <a:r>
              <a:rPr lang="en-US" sz="1700">
                <a:solidFill>
                  <a:srgbClr val="333333"/>
                </a:solidFill>
              </a:rPr>
              <a:t>Teoria é fortalecida com testes de hipóteses rigorosos e adequados</a:t>
            </a:r>
            <a:endParaRPr b="1" sz="19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e125265ec7_0_1025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g3e125265ec7_0_1025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4762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“Regras de Ouro” da Pesquisa Científica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557" name="Google Shape;557;g3e125265ec7_0_1025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3e125265ec7_0_1025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3e125265ec7_0_10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0" name="Google Shape;560;g3e125265ec7_0_10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561" name="Google Shape;561;g3e125265ec7_0_10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g3e125265ec7_0_1025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pic>
        <p:nvPicPr>
          <p:cNvPr id="563" name="Google Shape;563;g3e125265ec7_0_10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6" y="1234483"/>
            <a:ext cx="12192000" cy="1131102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g3e125265ec7_0_1025"/>
          <p:cNvSpPr txBox="1"/>
          <p:nvPr/>
        </p:nvSpPr>
        <p:spPr>
          <a:xfrm>
            <a:off x="304300" y="2609175"/>
            <a:ext cx="6718500" cy="3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33333"/>
                </a:solidFill>
              </a:rPr>
              <a:t>Não há espaço para afirmações normativas</a:t>
            </a:r>
            <a:endParaRPr b="1" sz="1900">
              <a:solidFill>
                <a:srgbClr val="333333"/>
              </a:solidFill>
            </a:endParaRPr>
          </a:p>
          <a:p>
            <a:pPr indent="-3365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Char char="■"/>
            </a:pPr>
            <a:r>
              <a:rPr lang="en-US" sz="1700">
                <a:solidFill>
                  <a:srgbClr val="333333"/>
                </a:solidFill>
              </a:rPr>
              <a:t>Declarações baseadas em juízo de valor, opiniões, preceitos éticos</a:t>
            </a:r>
            <a:endParaRPr sz="1700">
              <a:solidFill>
                <a:srgbClr val="333333"/>
              </a:solidFill>
            </a:endParaRPr>
          </a:p>
          <a:p>
            <a:pPr indent="-3365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Char char="■"/>
            </a:pPr>
            <a:r>
              <a:rPr lang="en-US" sz="1700">
                <a:solidFill>
                  <a:srgbClr val="333333"/>
                </a:solidFill>
              </a:rPr>
              <a:t>Preferências normativas do cientista devem ficar transparentes no trabalho científico.</a:t>
            </a:r>
            <a:endParaRPr sz="1700">
              <a:solidFill>
                <a:srgbClr val="333333"/>
              </a:solidFill>
            </a:endParaRPr>
          </a:p>
          <a:p>
            <a:pPr indent="-336550" lvl="2" marL="137160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333333"/>
              </a:buClr>
              <a:buSzPts val="1700"/>
              <a:buChar char="■"/>
            </a:pPr>
            <a:r>
              <a:rPr lang="en-US" sz="1700">
                <a:solidFill>
                  <a:srgbClr val="333333"/>
                </a:solidFill>
              </a:rPr>
              <a:t>Indicam muito mais como o mundo deveria ou não ser (de acordo com a opinião), do que como ele é</a:t>
            </a:r>
            <a:endParaRPr b="1" sz="1700">
              <a:solidFill>
                <a:srgbClr val="333333"/>
              </a:solidFill>
            </a:endParaRPr>
          </a:p>
        </p:txBody>
      </p:sp>
      <p:pic>
        <p:nvPicPr>
          <p:cNvPr id="565" name="Google Shape;565;g3e125265ec7_0_10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87709" y="2857475"/>
            <a:ext cx="4381125" cy="300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e125265ec7_0_1083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g3e125265ec7_0_1083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4762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“Regras de Ouro” da Pesquisa Científica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572" name="Google Shape;572;g3e125265ec7_0_1083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g3e125265ec7_0_1083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g3e125265ec7_0_108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5" name="Google Shape;575;g3e125265ec7_0_10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576" name="Google Shape;576;g3e125265ec7_0_10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g3e125265ec7_0_1083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578" name="Google Shape;578;g3e125265ec7_0_1083"/>
          <p:cNvSpPr txBox="1"/>
          <p:nvPr/>
        </p:nvSpPr>
        <p:spPr>
          <a:xfrm>
            <a:off x="304300" y="2609175"/>
            <a:ext cx="11730300" cy="3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333333"/>
                </a:solidFill>
              </a:rPr>
              <a:t>G</a:t>
            </a:r>
            <a:r>
              <a:rPr b="1" lang="en-US" sz="1700">
                <a:solidFill>
                  <a:srgbClr val="333333"/>
                </a:solidFill>
              </a:rPr>
              <a:t>eneralização</a:t>
            </a:r>
            <a:endParaRPr b="1" sz="1700">
              <a:solidFill>
                <a:srgbClr val="333333"/>
              </a:solidFill>
            </a:endParaRPr>
          </a:p>
          <a:p>
            <a:pPr indent="-323850" lvl="2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Char char="■"/>
            </a:pPr>
            <a:r>
              <a:rPr lang="en-US" sz="1500">
                <a:solidFill>
                  <a:srgbClr val="333333"/>
                </a:solidFill>
              </a:rPr>
              <a:t>Uma teoria mais geral é normalmente mais útil. </a:t>
            </a:r>
            <a:r>
              <a:rPr lang="en-US" sz="1500" u="sng">
                <a:solidFill>
                  <a:srgbClr val="333333"/>
                </a:solidFill>
              </a:rPr>
              <a:t>Exemplo:</a:t>
            </a:r>
            <a:r>
              <a:rPr lang="en-US" sz="1500">
                <a:solidFill>
                  <a:srgbClr val="333333"/>
                </a:solidFill>
              </a:rPr>
              <a:t> uma medicação que funcione para 5 variedades de uma doença é mais útil do que uma que só funcione para 2 variedades.</a:t>
            </a:r>
            <a:endParaRPr b="1" sz="17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333333"/>
                </a:solidFill>
              </a:rPr>
              <a:t>P</a:t>
            </a:r>
            <a:r>
              <a:rPr b="1" lang="en-US" sz="1700">
                <a:solidFill>
                  <a:srgbClr val="333333"/>
                </a:solidFill>
              </a:rPr>
              <a:t>arcimônia (Navalha de Ockham)</a:t>
            </a:r>
            <a:endParaRPr b="1" sz="1700">
              <a:solidFill>
                <a:srgbClr val="333333"/>
              </a:solidFill>
            </a:endParaRPr>
          </a:p>
          <a:p>
            <a:pPr indent="-323850" lvl="2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Char char="■"/>
            </a:pPr>
            <a:r>
              <a:rPr lang="en-US" sz="1500">
                <a:solidFill>
                  <a:srgbClr val="333333"/>
                </a:solidFill>
              </a:rPr>
              <a:t>Em igualdade de condições, a explicação mais simples é geralmente a mais provável</a:t>
            </a:r>
            <a:endParaRPr sz="1500">
              <a:solidFill>
                <a:srgbClr val="333333"/>
              </a:solidFill>
            </a:endParaRPr>
          </a:p>
          <a:p>
            <a:pPr indent="-323850" lvl="2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Char char="■"/>
            </a:pPr>
            <a:r>
              <a:rPr lang="en-US" sz="1500" u="sng">
                <a:solidFill>
                  <a:srgbClr val="333333"/>
                </a:solidFill>
              </a:rPr>
              <a:t>Exemplos:</a:t>
            </a:r>
            <a:endParaRPr sz="1500" u="sng">
              <a:solidFill>
                <a:srgbClr val="333333"/>
              </a:solidFill>
            </a:endParaRPr>
          </a:p>
          <a:p>
            <a:pPr indent="-323850" lvl="3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Char char="●"/>
            </a:pPr>
            <a:r>
              <a:rPr b="1" lang="en-US" sz="1500">
                <a:solidFill>
                  <a:srgbClr val="333333"/>
                </a:solidFill>
              </a:rPr>
              <a:t>Como explicar um barulho no telhado?</a:t>
            </a:r>
            <a:r>
              <a:rPr lang="en-US" sz="1500">
                <a:solidFill>
                  <a:srgbClr val="333333"/>
                </a:solidFill>
              </a:rPr>
              <a:t> → Alienígena (complexo)? Galho da árvore (simples)?</a:t>
            </a:r>
            <a:endParaRPr sz="1500">
              <a:solidFill>
                <a:srgbClr val="333333"/>
              </a:solidFill>
            </a:endParaRPr>
          </a:p>
          <a:p>
            <a:pPr indent="-323850" lvl="3" marL="137160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333333"/>
              </a:buClr>
              <a:buSzPts val="1500"/>
              <a:buChar char="●"/>
            </a:pPr>
            <a:r>
              <a:rPr b="1" lang="en-US" sz="1500">
                <a:solidFill>
                  <a:srgbClr val="333333"/>
                </a:solidFill>
              </a:rPr>
              <a:t>Como explicar um objeto ter sumido?</a:t>
            </a:r>
            <a:r>
              <a:rPr lang="en-US" sz="1500">
                <a:solidFill>
                  <a:srgbClr val="333333"/>
                </a:solidFill>
              </a:rPr>
              <a:t> → Eu esqueci onde guardei (simples)? Alguém entrou em casa sem deixar rastros (complexo)?</a:t>
            </a:r>
            <a:endParaRPr sz="1500">
              <a:solidFill>
                <a:srgbClr val="333333"/>
              </a:solidFill>
            </a:endParaRPr>
          </a:p>
        </p:txBody>
      </p:sp>
      <p:pic>
        <p:nvPicPr>
          <p:cNvPr id="579" name="Google Shape;579;g3e125265ec7_0_10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234475"/>
            <a:ext cx="12191933" cy="115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e125265ec7_0_1061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3e125265ec7_0_1061"/>
          <p:cNvSpPr txBox="1"/>
          <p:nvPr>
            <p:ph type="title"/>
          </p:nvPr>
        </p:nvSpPr>
        <p:spPr>
          <a:xfrm>
            <a:off x="1496192" y="2292130"/>
            <a:ext cx="9189900" cy="19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</a:pPr>
            <a:r>
              <a:rPr b="1" lang="en-US" sz="5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Projeto de Pesquisa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86" name="Google Shape;586;g3e125265ec7_0_1061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7" name="Google Shape;587;g3e125265ec7_0_10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65777" y="295605"/>
            <a:ext cx="582448" cy="556172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g3e125265ec7_0_1061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pic>
        <p:nvPicPr>
          <p:cNvPr descr="Uma imagem contendo objeto, relógio de pulso, relógio, placar&#10;&#10;O conteúdo gerado por IA pode estar incorreto." id="589" name="Google Shape;589;g3e125265ec7_0_10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g3e125265ec7_0_1061"/>
          <p:cNvSpPr txBox="1"/>
          <p:nvPr/>
        </p:nvSpPr>
        <p:spPr>
          <a:xfrm>
            <a:off x="370325" y="5401725"/>
            <a:ext cx="86613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757575"/>
                </a:solidFill>
              </a:rPr>
              <a:t>Baseado em: </a:t>
            </a:r>
            <a:r>
              <a:rPr lang="en-US" sz="1000">
                <a:solidFill>
                  <a:srgbClr val="757575"/>
                </a:solidFill>
              </a:rPr>
              <a:t>UNIVERSIDADE FEDERAL DE UBERLÂNDIA. Projeto de pesquisa. 2025. Disponível em:</a:t>
            </a:r>
            <a:r>
              <a:rPr lang="en-US" sz="1000">
                <a:solidFill>
                  <a:srgbClr val="757575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https://bibliotecas.ufu.br/sites/bibliotecas.ufu.br/files/media/imagem/projeto_de_pesquisa_maio_25.pdf</a:t>
            </a:r>
            <a:r>
              <a:rPr lang="en-US" sz="1000">
                <a:solidFill>
                  <a:srgbClr val="757575"/>
                </a:solidFill>
              </a:rPr>
              <a:t>. Acesso em: 14 maio 2026.</a:t>
            </a:r>
            <a:endParaRPr sz="1000">
              <a:solidFill>
                <a:srgbClr val="757575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e125265ec7_0_1128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g3e125265ec7_0_1128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Elementos de um projeto de pesquisa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597" name="Google Shape;597;g3e125265ec7_0_1128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g3e125265ec7_0_1128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g3e125265ec7_0_11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0" name="Google Shape;600;g3e125265ec7_0_1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601" name="Google Shape;601;g3e125265ec7_0_11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g3e125265ec7_0_1128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603" name="Google Shape;603;g3e125265ec7_0_1128"/>
          <p:cNvSpPr txBox="1"/>
          <p:nvPr/>
        </p:nvSpPr>
        <p:spPr>
          <a:xfrm>
            <a:off x="472575" y="1197950"/>
            <a:ext cx="113622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333333"/>
                </a:solidFill>
              </a:rPr>
              <a:t>ABNT NBR 15287/2025</a:t>
            </a:r>
            <a:endParaRPr b="1" sz="26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200">
                <a:solidFill>
                  <a:srgbClr val="333333"/>
                </a:solidFill>
              </a:rPr>
              <a:t>Princípios gerais para elaboração e apresentação do projeto de pesquisa</a:t>
            </a:r>
            <a:endParaRPr sz="2200">
              <a:solidFill>
                <a:srgbClr val="333333"/>
              </a:solidFill>
            </a:endParaRPr>
          </a:p>
        </p:txBody>
      </p:sp>
      <p:sp>
        <p:nvSpPr>
          <p:cNvPr id="604" name="Google Shape;604;g3e125265ec7_0_1128"/>
          <p:cNvSpPr/>
          <p:nvPr/>
        </p:nvSpPr>
        <p:spPr>
          <a:xfrm>
            <a:off x="1076168" y="2494875"/>
            <a:ext cx="1692600" cy="339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Parte externa</a:t>
            </a:r>
            <a:endParaRPr b="1"/>
          </a:p>
        </p:txBody>
      </p:sp>
      <p:sp>
        <p:nvSpPr>
          <p:cNvPr id="605" name="Google Shape;605;g3e125265ec7_0_1128"/>
          <p:cNvSpPr/>
          <p:nvPr/>
        </p:nvSpPr>
        <p:spPr>
          <a:xfrm>
            <a:off x="2910088" y="2494875"/>
            <a:ext cx="8321100" cy="339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Parte interna</a:t>
            </a:r>
            <a:endParaRPr b="1"/>
          </a:p>
        </p:txBody>
      </p:sp>
      <p:sp>
        <p:nvSpPr>
          <p:cNvPr id="606" name="Google Shape;606;g3e125265ec7_0_1128"/>
          <p:cNvSpPr/>
          <p:nvPr/>
        </p:nvSpPr>
        <p:spPr>
          <a:xfrm>
            <a:off x="3051513" y="2878675"/>
            <a:ext cx="2693400" cy="290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265116"/>
                </a:solidFill>
              </a:rPr>
              <a:t>Elementos pré-textuais</a:t>
            </a:r>
            <a:endParaRPr b="1">
              <a:solidFill>
                <a:srgbClr val="265116"/>
              </a:solidFill>
            </a:endParaRPr>
          </a:p>
        </p:txBody>
      </p:sp>
      <p:sp>
        <p:nvSpPr>
          <p:cNvPr id="607" name="Google Shape;607;g3e125265ec7_0_1128"/>
          <p:cNvSpPr/>
          <p:nvPr/>
        </p:nvSpPr>
        <p:spPr>
          <a:xfrm>
            <a:off x="5860813" y="2878675"/>
            <a:ext cx="2430300" cy="290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D4ED8"/>
                </a:solidFill>
              </a:rPr>
              <a:t>Elementos textuais</a:t>
            </a:r>
            <a:endParaRPr b="1">
              <a:solidFill>
                <a:srgbClr val="1D4ED8"/>
              </a:solidFill>
            </a:endParaRPr>
          </a:p>
        </p:txBody>
      </p:sp>
      <p:sp>
        <p:nvSpPr>
          <p:cNvPr id="608" name="Google Shape;608;g3e125265ec7_0_1128"/>
          <p:cNvSpPr/>
          <p:nvPr/>
        </p:nvSpPr>
        <p:spPr>
          <a:xfrm>
            <a:off x="8407613" y="2878675"/>
            <a:ext cx="2685300" cy="290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1B1B"/>
                </a:solidFill>
              </a:rPr>
              <a:t>Elementos p</a:t>
            </a:r>
            <a:r>
              <a:rPr b="1" lang="en-US">
                <a:solidFill>
                  <a:srgbClr val="991B1B"/>
                </a:solidFill>
              </a:rPr>
              <a:t>ós</a:t>
            </a:r>
            <a:r>
              <a:rPr b="1" lang="en-US">
                <a:solidFill>
                  <a:srgbClr val="991B1B"/>
                </a:solidFill>
              </a:rPr>
              <a:t>-textuais</a:t>
            </a:r>
            <a:endParaRPr b="1">
              <a:solidFill>
                <a:srgbClr val="991B1B"/>
              </a:solidFill>
            </a:endParaRPr>
          </a:p>
        </p:txBody>
      </p:sp>
      <p:sp>
        <p:nvSpPr>
          <p:cNvPr id="609" name="Google Shape;609;g3e125265ec7_0_1128"/>
          <p:cNvSpPr txBox="1"/>
          <p:nvPr/>
        </p:nvSpPr>
        <p:spPr>
          <a:xfrm>
            <a:off x="1241018" y="2908574"/>
            <a:ext cx="1362900" cy="693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606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❏"/>
            </a:pPr>
            <a:r>
              <a:rPr b="1" lang="en-US">
                <a:solidFill>
                  <a:schemeClr val="dk1"/>
                </a:solidFill>
              </a:rPr>
              <a:t>Capa</a:t>
            </a:r>
            <a:endParaRPr b="1">
              <a:solidFill>
                <a:schemeClr val="dk1"/>
              </a:solidFill>
            </a:endParaRPr>
          </a:p>
          <a:p>
            <a:pPr indent="-226060" lvl="0" marL="27432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400"/>
              <a:buChar char="❏"/>
            </a:pPr>
            <a:r>
              <a:rPr b="1" lang="en-US">
                <a:solidFill>
                  <a:schemeClr val="dk1"/>
                </a:solidFill>
              </a:rPr>
              <a:t>Lombada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610" name="Google Shape;610;g3e125265ec7_0_1128"/>
          <p:cNvSpPr txBox="1"/>
          <p:nvPr/>
        </p:nvSpPr>
        <p:spPr>
          <a:xfrm>
            <a:off x="3183075" y="3312050"/>
            <a:ext cx="2430300" cy="1984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6060" lvl="0" marL="27432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400"/>
              <a:buChar char="❏"/>
            </a:pPr>
            <a:r>
              <a:rPr b="1" lang="en-US">
                <a:solidFill>
                  <a:srgbClr val="065F46"/>
                </a:solidFill>
              </a:rPr>
              <a:t>Folha de rosto (obrig.)</a:t>
            </a:r>
            <a:endParaRPr b="1">
              <a:solidFill>
                <a:srgbClr val="065F46"/>
              </a:solidFill>
            </a:endParaRPr>
          </a:p>
          <a:p>
            <a:pPr indent="-226060" lvl="0" marL="274320" rtl="0" algn="l">
              <a:spcBef>
                <a:spcPts val="500"/>
              </a:spcBef>
              <a:spcAft>
                <a:spcPts val="0"/>
              </a:spcAft>
              <a:buClr>
                <a:srgbClr val="065F46"/>
              </a:buClr>
              <a:buSzPts val="1400"/>
              <a:buChar char="❏"/>
            </a:pPr>
            <a:r>
              <a:rPr b="1" lang="en-US">
                <a:solidFill>
                  <a:srgbClr val="065F46"/>
                </a:solidFill>
              </a:rPr>
              <a:t>Sum</a:t>
            </a:r>
            <a:r>
              <a:rPr b="1" lang="en-US">
                <a:solidFill>
                  <a:srgbClr val="065F46"/>
                </a:solidFill>
              </a:rPr>
              <a:t>ário</a:t>
            </a:r>
            <a:endParaRPr b="1">
              <a:solidFill>
                <a:srgbClr val="065F46"/>
              </a:solidFill>
            </a:endParaRPr>
          </a:p>
          <a:p>
            <a:pPr indent="-226060" lvl="0" marL="274320" rtl="0" algn="l">
              <a:spcBef>
                <a:spcPts val="500"/>
              </a:spcBef>
              <a:spcAft>
                <a:spcPts val="0"/>
              </a:spcAft>
              <a:buClr>
                <a:srgbClr val="065F46"/>
              </a:buClr>
              <a:buSzPts val="1400"/>
              <a:buChar char="❏"/>
            </a:pPr>
            <a:r>
              <a:rPr b="1" lang="en-US">
                <a:solidFill>
                  <a:srgbClr val="065F46"/>
                </a:solidFill>
              </a:rPr>
              <a:t>Lista de ilustrações</a:t>
            </a:r>
            <a:endParaRPr b="1">
              <a:solidFill>
                <a:srgbClr val="065F46"/>
              </a:solidFill>
            </a:endParaRPr>
          </a:p>
          <a:p>
            <a:pPr indent="-226060" lvl="0" marL="274320" rtl="0" algn="l">
              <a:spcBef>
                <a:spcPts val="500"/>
              </a:spcBef>
              <a:spcAft>
                <a:spcPts val="0"/>
              </a:spcAft>
              <a:buClr>
                <a:srgbClr val="065F46"/>
              </a:buClr>
              <a:buSzPts val="1400"/>
              <a:buChar char="❏"/>
            </a:pPr>
            <a:r>
              <a:rPr b="1" lang="en-US">
                <a:solidFill>
                  <a:srgbClr val="065F46"/>
                </a:solidFill>
              </a:rPr>
              <a:t>Lista de tabelas</a:t>
            </a:r>
            <a:endParaRPr b="1">
              <a:solidFill>
                <a:srgbClr val="065F46"/>
              </a:solidFill>
            </a:endParaRPr>
          </a:p>
          <a:p>
            <a:pPr indent="-226060" lvl="0" marL="274320" rtl="0" algn="l">
              <a:spcBef>
                <a:spcPts val="500"/>
              </a:spcBef>
              <a:spcAft>
                <a:spcPts val="0"/>
              </a:spcAft>
              <a:buClr>
                <a:srgbClr val="065F46"/>
              </a:buClr>
              <a:buSzPts val="1400"/>
              <a:buChar char="❏"/>
            </a:pPr>
            <a:r>
              <a:rPr b="1" lang="en-US">
                <a:solidFill>
                  <a:srgbClr val="065F46"/>
                </a:solidFill>
              </a:rPr>
              <a:t>Lista de abreviaturas e siglas</a:t>
            </a:r>
            <a:endParaRPr b="1">
              <a:solidFill>
                <a:srgbClr val="065F46"/>
              </a:solidFill>
            </a:endParaRPr>
          </a:p>
          <a:p>
            <a:pPr indent="-226060" lvl="0" marL="274320" rtl="0" algn="l">
              <a:spcBef>
                <a:spcPts val="500"/>
              </a:spcBef>
              <a:spcAft>
                <a:spcPts val="500"/>
              </a:spcAft>
              <a:buClr>
                <a:srgbClr val="065F46"/>
              </a:buClr>
              <a:buSzPts val="1400"/>
              <a:buChar char="❏"/>
            </a:pPr>
            <a:r>
              <a:rPr b="1" lang="en-US">
                <a:solidFill>
                  <a:srgbClr val="065F46"/>
                </a:solidFill>
              </a:rPr>
              <a:t>LIsta de símbolos</a:t>
            </a:r>
            <a:endParaRPr b="1">
              <a:solidFill>
                <a:srgbClr val="065F46"/>
              </a:solidFill>
            </a:endParaRPr>
          </a:p>
        </p:txBody>
      </p:sp>
      <p:sp>
        <p:nvSpPr>
          <p:cNvPr id="611" name="Google Shape;611;g3e125265ec7_0_1128"/>
          <p:cNvSpPr txBox="1"/>
          <p:nvPr/>
        </p:nvSpPr>
        <p:spPr>
          <a:xfrm>
            <a:off x="5984138" y="3312050"/>
            <a:ext cx="2191800" cy="42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500"/>
              </a:spcAft>
              <a:buNone/>
            </a:pPr>
            <a:r>
              <a:rPr b="1" lang="en-US">
                <a:solidFill>
                  <a:srgbClr val="1D4ED8"/>
                </a:solidFill>
              </a:rPr>
              <a:t>Introdução</a:t>
            </a:r>
            <a:endParaRPr b="1">
              <a:solidFill>
                <a:srgbClr val="1D4ED8"/>
              </a:solidFill>
            </a:endParaRPr>
          </a:p>
        </p:txBody>
      </p:sp>
      <p:sp>
        <p:nvSpPr>
          <p:cNvPr id="612" name="Google Shape;612;g3e125265ec7_0_1128"/>
          <p:cNvSpPr txBox="1"/>
          <p:nvPr/>
        </p:nvSpPr>
        <p:spPr>
          <a:xfrm>
            <a:off x="5984138" y="3799125"/>
            <a:ext cx="2191800" cy="42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500"/>
              </a:spcAft>
              <a:buNone/>
            </a:pPr>
            <a:r>
              <a:rPr b="1" lang="en-US">
                <a:solidFill>
                  <a:srgbClr val="1D4ED8"/>
                </a:solidFill>
              </a:rPr>
              <a:t>Referencial teórico</a:t>
            </a:r>
            <a:endParaRPr b="1">
              <a:solidFill>
                <a:srgbClr val="1D4ED8"/>
              </a:solidFill>
            </a:endParaRPr>
          </a:p>
        </p:txBody>
      </p:sp>
      <p:sp>
        <p:nvSpPr>
          <p:cNvPr id="613" name="Google Shape;613;g3e125265ec7_0_1128"/>
          <p:cNvSpPr txBox="1"/>
          <p:nvPr/>
        </p:nvSpPr>
        <p:spPr>
          <a:xfrm>
            <a:off x="5980063" y="4286200"/>
            <a:ext cx="2191800" cy="42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500"/>
              </a:spcAft>
              <a:buNone/>
            </a:pPr>
            <a:r>
              <a:rPr b="1" lang="en-US">
                <a:solidFill>
                  <a:srgbClr val="1D4ED8"/>
                </a:solidFill>
              </a:rPr>
              <a:t>Metodologia</a:t>
            </a:r>
            <a:endParaRPr b="1">
              <a:solidFill>
                <a:srgbClr val="1D4ED8"/>
              </a:solidFill>
            </a:endParaRPr>
          </a:p>
        </p:txBody>
      </p:sp>
      <p:sp>
        <p:nvSpPr>
          <p:cNvPr id="614" name="Google Shape;614;g3e125265ec7_0_1128"/>
          <p:cNvSpPr txBox="1"/>
          <p:nvPr/>
        </p:nvSpPr>
        <p:spPr>
          <a:xfrm>
            <a:off x="5984138" y="4773275"/>
            <a:ext cx="2191800" cy="42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500"/>
              </a:spcAft>
              <a:buNone/>
            </a:pPr>
            <a:r>
              <a:rPr b="1" lang="en-US">
                <a:solidFill>
                  <a:srgbClr val="1D4ED8"/>
                </a:solidFill>
              </a:rPr>
              <a:t>Recursos</a:t>
            </a:r>
            <a:endParaRPr b="1">
              <a:solidFill>
                <a:srgbClr val="1D4ED8"/>
              </a:solidFill>
            </a:endParaRPr>
          </a:p>
        </p:txBody>
      </p:sp>
      <p:sp>
        <p:nvSpPr>
          <p:cNvPr id="615" name="Google Shape;615;g3e125265ec7_0_1128"/>
          <p:cNvSpPr txBox="1"/>
          <p:nvPr/>
        </p:nvSpPr>
        <p:spPr>
          <a:xfrm>
            <a:off x="5980063" y="5260350"/>
            <a:ext cx="2191800" cy="42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500"/>
              </a:spcAft>
              <a:buNone/>
            </a:pPr>
            <a:r>
              <a:rPr b="1" lang="en-US">
                <a:solidFill>
                  <a:srgbClr val="1D4ED8"/>
                </a:solidFill>
              </a:rPr>
              <a:t>Cronograma</a:t>
            </a:r>
            <a:endParaRPr b="1">
              <a:solidFill>
                <a:srgbClr val="1D4ED8"/>
              </a:solidFill>
            </a:endParaRPr>
          </a:p>
        </p:txBody>
      </p:sp>
      <p:sp>
        <p:nvSpPr>
          <p:cNvPr id="616" name="Google Shape;616;g3e125265ec7_0_1128"/>
          <p:cNvSpPr txBox="1"/>
          <p:nvPr/>
        </p:nvSpPr>
        <p:spPr>
          <a:xfrm>
            <a:off x="8526088" y="3312050"/>
            <a:ext cx="2430300" cy="1512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6060" lvl="0" marL="27432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400"/>
              <a:buChar char="❏"/>
            </a:pPr>
            <a:r>
              <a:rPr b="1" lang="en-US">
                <a:solidFill>
                  <a:srgbClr val="991B1B"/>
                </a:solidFill>
              </a:rPr>
              <a:t>Referências</a:t>
            </a:r>
            <a:r>
              <a:rPr b="1" lang="en-US">
                <a:solidFill>
                  <a:srgbClr val="991B1B"/>
                </a:solidFill>
              </a:rPr>
              <a:t> (obrig.)</a:t>
            </a:r>
            <a:endParaRPr b="1">
              <a:solidFill>
                <a:srgbClr val="991B1B"/>
              </a:solidFill>
            </a:endParaRPr>
          </a:p>
          <a:p>
            <a:pPr indent="-226060" lvl="0" marL="274320" rtl="0" algn="l">
              <a:spcBef>
                <a:spcPts val="500"/>
              </a:spcBef>
              <a:spcAft>
                <a:spcPts val="0"/>
              </a:spcAft>
              <a:buClr>
                <a:srgbClr val="991B1B"/>
              </a:buClr>
              <a:buSzPts val="1400"/>
              <a:buChar char="❏"/>
            </a:pPr>
            <a:r>
              <a:rPr b="1" lang="en-US">
                <a:solidFill>
                  <a:srgbClr val="991B1B"/>
                </a:solidFill>
              </a:rPr>
              <a:t>Gloss</a:t>
            </a:r>
            <a:r>
              <a:rPr b="1" lang="en-US">
                <a:solidFill>
                  <a:srgbClr val="991B1B"/>
                </a:solidFill>
              </a:rPr>
              <a:t>ário</a:t>
            </a:r>
            <a:endParaRPr b="1">
              <a:solidFill>
                <a:srgbClr val="991B1B"/>
              </a:solidFill>
            </a:endParaRPr>
          </a:p>
          <a:p>
            <a:pPr indent="-226060" lvl="0" marL="274320" rtl="0" algn="l">
              <a:spcBef>
                <a:spcPts val="500"/>
              </a:spcBef>
              <a:spcAft>
                <a:spcPts val="0"/>
              </a:spcAft>
              <a:buClr>
                <a:srgbClr val="991B1B"/>
              </a:buClr>
              <a:buSzPts val="1400"/>
              <a:buChar char="❏"/>
            </a:pPr>
            <a:r>
              <a:rPr b="1" lang="en-US">
                <a:solidFill>
                  <a:srgbClr val="991B1B"/>
                </a:solidFill>
              </a:rPr>
              <a:t>Ap</a:t>
            </a:r>
            <a:r>
              <a:rPr b="1" lang="en-US">
                <a:solidFill>
                  <a:srgbClr val="991B1B"/>
                </a:solidFill>
              </a:rPr>
              <a:t>êndices</a:t>
            </a:r>
            <a:endParaRPr b="1">
              <a:solidFill>
                <a:srgbClr val="991B1B"/>
              </a:solidFill>
            </a:endParaRPr>
          </a:p>
          <a:p>
            <a:pPr indent="-226060" lvl="0" marL="274320" rtl="0" algn="l">
              <a:spcBef>
                <a:spcPts val="500"/>
              </a:spcBef>
              <a:spcAft>
                <a:spcPts val="0"/>
              </a:spcAft>
              <a:buClr>
                <a:srgbClr val="991B1B"/>
              </a:buClr>
              <a:buSzPts val="1400"/>
              <a:buChar char="❏"/>
            </a:pPr>
            <a:r>
              <a:rPr b="1" lang="en-US">
                <a:solidFill>
                  <a:srgbClr val="991B1B"/>
                </a:solidFill>
              </a:rPr>
              <a:t>Anexos</a:t>
            </a:r>
            <a:endParaRPr b="1">
              <a:solidFill>
                <a:srgbClr val="991B1B"/>
              </a:solidFill>
            </a:endParaRPr>
          </a:p>
          <a:p>
            <a:pPr indent="-226060" lvl="0" marL="274320" rtl="0" algn="l">
              <a:spcBef>
                <a:spcPts val="500"/>
              </a:spcBef>
              <a:spcAft>
                <a:spcPts val="500"/>
              </a:spcAft>
              <a:buClr>
                <a:srgbClr val="991B1B"/>
              </a:buClr>
              <a:buSzPts val="1400"/>
              <a:buChar char="❏"/>
            </a:pPr>
            <a:r>
              <a:rPr b="1" lang="en-US">
                <a:solidFill>
                  <a:srgbClr val="991B1B"/>
                </a:solidFill>
              </a:rPr>
              <a:t>Índice</a:t>
            </a:r>
            <a:endParaRPr b="1">
              <a:solidFill>
                <a:srgbClr val="991B1B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e1d6d68533_0_20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g3e1d6d68533_0_20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Parte externa – Capa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623" name="Google Shape;623;g3e1d6d68533_0_20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g3e1d6d68533_0_20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g3e1d6d68533_0_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26" name="Google Shape;626;g3e1d6d68533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627" name="Google Shape;627;g3e1d6d68533_0_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g3e1d6d68533_0_20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pic>
        <p:nvPicPr>
          <p:cNvPr id="629" name="Google Shape;629;g3e1d6d68533_0_20"/>
          <p:cNvPicPr preferRelativeResize="0"/>
          <p:nvPr/>
        </p:nvPicPr>
        <p:blipFill rotWithShape="1">
          <a:blip r:embed="rId5">
            <a:alphaModFix/>
          </a:blip>
          <a:srcRect b="0" l="0" r="0" t="2066"/>
          <a:stretch/>
        </p:blipFill>
        <p:spPr>
          <a:xfrm>
            <a:off x="2850600" y="1331113"/>
            <a:ext cx="6490799" cy="4546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e1d6d68533_0_46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g3e1d6d68533_0_46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Parte externa – Lombada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636" name="Google Shape;636;g3e1d6d68533_0_46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g3e1d6d68533_0_46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g3e1d6d68533_0_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39" name="Google Shape;639;g3e1d6d68533_0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640" name="Google Shape;640;g3e1d6d68533_0_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g3e1d6d68533_0_46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642" name="Google Shape;642;g3e1d6d68533_0_46"/>
          <p:cNvSpPr txBox="1"/>
          <p:nvPr/>
        </p:nvSpPr>
        <p:spPr>
          <a:xfrm>
            <a:off x="472575" y="1197950"/>
            <a:ext cx="113622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333333"/>
                </a:solidFill>
              </a:rPr>
              <a:t>ABNT NBR 1225/2023</a:t>
            </a:r>
            <a:endParaRPr sz="2200">
              <a:solidFill>
                <a:srgbClr val="333333"/>
              </a:solidFill>
            </a:endParaRPr>
          </a:p>
        </p:txBody>
      </p:sp>
      <p:pic>
        <p:nvPicPr>
          <p:cNvPr id="643" name="Google Shape;643;g3e1d6d68533_0_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1375" y="1987938"/>
            <a:ext cx="6869246" cy="390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e1d6d68533_0_60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e1d6d68533_0_60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Parte interna – Elementos pr</a:t>
            </a: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é-textuais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650" name="Google Shape;650;g3e1d6d68533_0_60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3e1d6d68533_0_60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3e1d6d68533_0_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3" name="Google Shape;653;g3e1d6d68533_0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654" name="Google Shape;654;g3e1d6d68533_0_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g3e1d6d68533_0_60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pic>
        <p:nvPicPr>
          <p:cNvPr id="656" name="Google Shape;656;g3e1d6d68533_0_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02387" y="1063888"/>
            <a:ext cx="3420697" cy="49849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57" name="Google Shape;657;g3e1d6d68533_0_60"/>
          <p:cNvSpPr txBox="1"/>
          <p:nvPr/>
        </p:nvSpPr>
        <p:spPr>
          <a:xfrm>
            <a:off x="472575" y="1197950"/>
            <a:ext cx="6844800" cy="4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333333"/>
                </a:solidFill>
              </a:rPr>
              <a:t>Folha de rosto</a:t>
            </a:r>
            <a:endParaRPr b="1" sz="25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33333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Char char="❏"/>
            </a:pPr>
            <a:r>
              <a:rPr lang="en-US" sz="2200">
                <a:solidFill>
                  <a:srgbClr val="333333"/>
                </a:solidFill>
              </a:rPr>
              <a:t>Autor, título, local e ano: como na Capa</a:t>
            </a:r>
            <a:endParaRPr sz="2200">
              <a:solidFill>
                <a:srgbClr val="33333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333333"/>
              </a:buClr>
              <a:buSzPts val="2200"/>
              <a:buChar char="❏"/>
            </a:pPr>
            <a:r>
              <a:rPr lang="en-US" sz="2200">
                <a:solidFill>
                  <a:srgbClr val="333333"/>
                </a:solidFill>
              </a:rPr>
              <a:t>Tipo do projeto de pesquisa e nome da entidade que será submetido</a:t>
            </a:r>
            <a:endParaRPr sz="2200">
              <a:solidFill>
                <a:srgbClr val="33333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333333"/>
              </a:buClr>
              <a:buSzPts val="2200"/>
              <a:buChar char="❏"/>
            </a:pPr>
            <a:r>
              <a:rPr lang="en-US" sz="2200">
                <a:solidFill>
                  <a:srgbClr val="333333"/>
                </a:solidFill>
              </a:rPr>
              <a:t>Nome do(a) orientador(a), coorientador(a) ou coordenador(a), se houver</a:t>
            </a:r>
            <a:endParaRPr sz="22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e1d6d68533_0_76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3e1d6d68533_0_76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Parte interna – Elementos pré-textuais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664" name="Google Shape;664;g3e1d6d68533_0_76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g3e1d6d68533_0_76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g3e1d6d68533_0_7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7" name="Google Shape;667;g3e1d6d68533_0_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668" name="Google Shape;668;g3e1d6d68533_0_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g3e1d6d68533_0_76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670" name="Google Shape;670;g3e1d6d68533_0_76"/>
          <p:cNvSpPr txBox="1"/>
          <p:nvPr/>
        </p:nvSpPr>
        <p:spPr>
          <a:xfrm>
            <a:off x="472575" y="1197950"/>
            <a:ext cx="6303900" cy="4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333333"/>
                </a:solidFill>
              </a:rPr>
              <a:t>Sumário</a:t>
            </a:r>
            <a:endParaRPr b="1" sz="25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33333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Char char="❏"/>
            </a:pPr>
            <a:r>
              <a:rPr lang="en-US" sz="2200">
                <a:solidFill>
                  <a:srgbClr val="333333"/>
                </a:solidFill>
              </a:rPr>
              <a:t>Numeração progressiva das seções</a:t>
            </a:r>
            <a:endParaRPr sz="2200">
              <a:solidFill>
                <a:srgbClr val="33333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333333"/>
              </a:buClr>
              <a:buSzPts val="2200"/>
              <a:buChar char="❏"/>
            </a:pPr>
            <a:r>
              <a:rPr lang="en-US" sz="2200">
                <a:solidFill>
                  <a:srgbClr val="333333"/>
                </a:solidFill>
              </a:rPr>
              <a:t>T</a:t>
            </a:r>
            <a:r>
              <a:rPr lang="en-US" sz="2200">
                <a:solidFill>
                  <a:srgbClr val="333333"/>
                </a:solidFill>
              </a:rPr>
              <a:t>ítulos no mesmo formato em que aparecem no texto</a:t>
            </a:r>
            <a:endParaRPr sz="2200">
              <a:solidFill>
                <a:srgbClr val="33333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333333"/>
              </a:buClr>
              <a:buSzPts val="2200"/>
              <a:buChar char="❏"/>
            </a:pPr>
            <a:r>
              <a:rPr lang="en-US" sz="2200">
                <a:solidFill>
                  <a:srgbClr val="333333"/>
                </a:solidFill>
              </a:rPr>
              <a:t>Indicaç</a:t>
            </a:r>
            <a:r>
              <a:rPr lang="en-US" sz="2200">
                <a:solidFill>
                  <a:srgbClr val="333333"/>
                </a:solidFill>
              </a:rPr>
              <a:t>ão de páginas</a:t>
            </a:r>
            <a:endParaRPr sz="2200">
              <a:solidFill>
                <a:srgbClr val="333333"/>
              </a:solidFill>
            </a:endParaRPr>
          </a:p>
        </p:txBody>
      </p:sp>
      <p:pic>
        <p:nvPicPr>
          <p:cNvPr id="671" name="Google Shape;671;g3e1d6d68533_0_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4700" y="1063900"/>
            <a:ext cx="3774996" cy="49849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e1d6d68533_0_90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g3e1d6d68533_0_90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Parte interna – Elementos pré-textuais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678" name="Google Shape;678;g3e1d6d68533_0_90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g3e1d6d68533_0_90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g3e1d6d68533_0_9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81" name="Google Shape;681;g3e1d6d68533_0_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682" name="Google Shape;682;g3e1d6d68533_0_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g3e1d6d68533_0_90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684" name="Google Shape;684;g3e1d6d68533_0_90"/>
          <p:cNvSpPr txBox="1"/>
          <p:nvPr/>
        </p:nvSpPr>
        <p:spPr>
          <a:xfrm>
            <a:off x="472575" y="1197950"/>
            <a:ext cx="113622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333333"/>
                </a:solidFill>
              </a:rPr>
              <a:t>Listas de ilustrações, tabelas, abreviaturas/siglas e símbolos</a:t>
            </a:r>
            <a:endParaRPr sz="2200">
              <a:solidFill>
                <a:srgbClr val="333333"/>
              </a:solidFill>
            </a:endParaRPr>
          </a:p>
        </p:txBody>
      </p:sp>
      <p:pic>
        <p:nvPicPr>
          <p:cNvPr id="685" name="Google Shape;685;g3e1d6d68533_0_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4514" y="1959525"/>
            <a:ext cx="3184527" cy="406446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86" name="Google Shape;686;g3e1d6d68533_0_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27602" y="1959525"/>
            <a:ext cx="3356685" cy="406446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87" name="Google Shape;687;g3e1d6d68533_0_9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2848" y="1959525"/>
            <a:ext cx="3164637" cy="406446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e1d6d68533_0_106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g3e1d6d68533_0_106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Parte interna – Elementos textuais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694" name="Google Shape;694;g3e1d6d68533_0_106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g3e1d6d68533_0_106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g3e1d6d68533_0_10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97" name="Google Shape;697;g3e1d6d68533_0_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698" name="Google Shape;698;g3e1d6d68533_0_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g3e1d6d68533_0_106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pic>
        <p:nvPicPr>
          <p:cNvPr id="700" name="Google Shape;700;g3e1d6d68533_0_106"/>
          <p:cNvPicPr preferRelativeResize="0"/>
          <p:nvPr/>
        </p:nvPicPr>
        <p:blipFill rotWithShape="1">
          <a:blip r:embed="rId5">
            <a:alphaModFix/>
          </a:blip>
          <a:srcRect b="12698" l="0" r="0" t="23906"/>
          <a:stretch/>
        </p:blipFill>
        <p:spPr>
          <a:xfrm>
            <a:off x="500750" y="1796150"/>
            <a:ext cx="11190499" cy="395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g3e1d6d68533_0_106"/>
          <p:cNvSpPr/>
          <p:nvPr/>
        </p:nvSpPr>
        <p:spPr>
          <a:xfrm>
            <a:off x="1632875" y="3302900"/>
            <a:ext cx="734700" cy="7074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g3e1d6d68533_0_106"/>
          <p:cNvSpPr/>
          <p:nvPr/>
        </p:nvSpPr>
        <p:spPr>
          <a:xfrm>
            <a:off x="4336613" y="3302900"/>
            <a:ext cx="734700" cy="7074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g3e1d6d68533_0_106"/>
          <p:cNvSpPr/>
          <p:nvPr/>
        </p:nvSpPr>
        <p:spPr>
          <a:xfrm>
            <a:off x="7040350" y="3302900"/>
            <a:ext cx="734700" cy="7074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g3e1d6d68533_0_106"/>
          <p:cNvSpPr/>
          <p:nvPr/>
        </p:nvSpPr>
        <p:spPr>
          <a:xfrm>
            <a:off x="9805325" y="3319138"/>
            <a:ext cx="734700" cy="7074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e1d6d68533_0_121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g3e1d6d68533_0_121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711" name="Google Shape;711;g3e1d6d68533_0_121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g3e1d6d68533_0_121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g3e1d6d68533_0_1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14" name="Google Shape;714;g3e1d6d68533_0_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715" name="Google Shape;715;g3e1d6d68533_0_1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g3e1d6d68533_0_121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pic>
        <p:nvPicPr>
          <p:cNvPr id="717" name="Google Shape;717;g3e1d6d68533_0_121"/>
          <p:cNvPicPr preferRelativeResize="0"/>
          <p:nvPr/>
        </p:nvPicPr>
        <p:blipFill rotWithShape="1">
          <a:blip r:embed="rId5">
            <a:alphaModFix/>
          </a:blip>
          <a:srcRect b="6991" l="0" r="0" t="15242"/>
          <a:stretch/>
        </p:blipFill>
        <p:spPr>
          <a:xfrm>
            <a:off x="880188" y="1391050"/>
            <a:ext cx="10431631" cy="4527825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g3e1d6d68533_0_121"/>
          <p:cNvSpPr/>
          <p:nvPr/>
        </p:nvSpPr>
        <p:spPr>
          <a:xfrm>
            <a:off x="5521100" y="5102675"/>
            <a:ext cx="5551800" cy="55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g3e1d6d68533_0_121"/>
          <p:cNvSpPr/>
          <p:nvPr/>
        </p:nvSpPr>
        <p:spPr>
          <a:xfrm>
            <a:off x="5521100" y="4490350"/>
            <a:ext cx="5551800" cy="116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g3e1d6d68533_0_121"/>
          <p:cNvSpPr/>
          <p:nvPr/>
        </p:nvSpPr>
        <p:spPr>
          <a:xfrm>
            <a:off x="5521100" y="3918850"/>
            <a:ext cx="5551800" cy="17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g3e1d6d68533_0_121"/>
          <p:cNvSpPr/>
          <p:nvPr/>
        </p:nvSpPr>
        <p:spPr>
          <a:xfrm>
            <a:off x="5521100" y="3051400"/>
            <a:ext cx="5551800" cy="260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g3e1d6d68533_0_121"/>
          <p:cNvSpPr/>
          <p:nvPr/>
        </p:nvSpPr>
        <p:spPr>
          <a:xfrm>
            <a:off x="5521100" y="2459500"/>
            <a:ext cx="5551800" cy="319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g3e1d6d68533_0_121"/>
          <p:cNvSpPr/>
          <p:nvPr/>
        </p:nvSpPr>
        <p:spPr>
          <a:xfrm>
            <a:off x="5521100" y="1877775"/>
            <a:ext cx="5551800" cy="378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e1d6d68533_0_196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g3e1d6d68533_0_196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Referencial teórico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730" name="Google Shape;730;g3e1d6d68533_0_196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g3e1d6d68533_0_196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g3e1d6d68533_0_19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3" name="Google Shape;733;g3e1d6d68533_0_1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734" name="Google Shape;734;g3e1d6d68533_0_1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g3e1d6d68533_0_196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736" name="Google Shape;736;g3e1d6d68533_0_196"/>
          <p:cNvSpPr txBox="1"/>
          <p:nvPr/>
        </p:nvSpPr>
        <p:spPr>
          <a:xfrm>
            <a:off x="6521225" y="1358925"/>
            <a:ext cx="5205000" cy="45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33333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333333"/>
              </a:buClr>
              <a:buSzPts val="1900"/>
              <a:buChar char="❏"/>
            </a:pPr>
            <a:r>
              <a:rPr lang="en-US" sz="1900">
                <a:solidFill>
                  <a:srgbClr val="333333"/>
                </a:solidFill>
              </a:rPr>
              <a:t>Pressupostos teóricos para fundamen- tação da pesquisa</a:t>
            </a:r>
            <a:endParaRPr sz="1900">
              <a:solidFill>
                <a:srgbClr val="333333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333333"/>
              </a:buClr>
              <a:buSzPts val="1900"/>
              <a:buChar char="❏"/>
            </a:pPr>
            <a:r>
              <a:rPr lang="en-US" sz="1900">
                <a:solidFill>
                  <a:srgbClr val="333333"/>
                </a:solidFill>
              </a:rPr>
              <a:t>Contribuiç</a:t>
            </a:r>
            <a:r>
              <a:rPr lang="en-US" sz="1900">
                <a:solidFill>
                  <a:srgbClr val="333333"/>
                </a:solidFill>
              </a:rPr>
              <a:t>ões e investigações anteriores. Visão histórica do tema.</a:t>
            </a:r>
            <a:endParaRPr sz="1900">
              <a:solidFill>
                <a:srgbClr val="333333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333333"/>
              </a:buClr>
              <a:buSzPts val="1900"/>
              <a:buChar char="❏"/>
            </a:pPr>
            <a:r>
              <a:rPr lang="en-US" sz="1900">
                <a:solidFill>
                  <a:srgbClr val="333333"/>
                </a:solidFill>
              </a:rPr>
              <a:t>Indica o est</a:t>
            </a:r>
            <a:r>
              <a:rPr lang="en-US" sz="1900">
                <a:solidFill>
                  <a:srgbClr val="333333"/>
                </a:solidFill>
              </a:rPr>
              <a:t>ágio de desenvolvimento do tema </a:t>
            </a:r>
            <a:r>
              <a:rPr b="1" lang="en-US" sz="1900">
                <a:solidFill>
                  <a:srgbClr val="333333"/>
                </a:solidFill>
              </a:rPr>
              <a:t>(estado-da-arte)</a:t>
            </a:r>
            <a:endParaRPr b="1" sz="1900">
              <a:solidFill>
                <a:srgbClr val="333333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333333"/>
              </a:buClr>
              <a:buSzPts val="1900"/>
              <a:buChar char="❏"/>
            </a:pPr>
            <a:r>
              <a:rPr lang="en-US" sz="1900">
                <a:solidFill>
                  <a:srgbClr val="333333"/>
                </a:solidFill>
              </a:rPr>
              <a:t>Citações conforme ABNT NBR 10520</a:t>
            </a:r>
            <a:endParaRPr sz="1900">
              <a:solidFill>
                <a:srgbClr val="333333"/>
              </a:solidFill>
            </a:endParaRPr>
          </a:p>
        </p:txBody>
      </p:sp>
      <p:pic>
        <p:nvPicPr>
          <p:cNvPr id="737" name="Google Shape;737;g3e1d6d68533_0_1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7025" y="1194700"/>
            <a:ext cx="5696574" cy="4829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e1d6d68533_0_208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g3e1d6d68533_0_208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Metodologia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744" name="Google Shape;744;g3e1d6d68533_0_208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g3e1d6d68533_0_208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g3e1d6d68533_0_20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47" name="Google Shape;747;g3e1d6d68533_0_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748" name="Google Shape;748;g3e1d6d68533_0_2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g3e1d6d68533_0_208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pic>
        <p:nvPicPr>
          <p:cNvPr id="750" name="Google Shape;750;g3e1d6d68533_0_208"/>
          <p:cNvPicPr preferRelativeResize="0"/>
          <p:nvPr/>
        </p:nvPicPr>
        <p:blipFill rotWithShape="1">
          <a:blip r:embed="rId5">
            <a:alphaModFix/>
          </a:blip>
          <a:srcRect b="3819" l="2758" r="2805" t="14401"/>
          <a:stretch/>
        </p:blipFill>
        <p:spPr>
          <a:xfrm>
            <a:off x="1649738" y="1507437"/>
            <a:ext cx="8892524" cy="429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e1d6d68533_0_219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g3e1d6d68533_0_219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Recursos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757" name="Google Shape;757;g3e1d6d68533_0_219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g3e1d6d68533_0_219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g3e1d6d68533_0_2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60" name="Google Shape;760;g3e1d6d68533_0_2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761" name="Google Shape;761;g3e1d6d68533_0_2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g3e1d6d68533_0_219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763" name="Google Shape;763;g3e1d6d68533_0_219"/>
          <p:cNvSpPr txBox="1"/>
          <p:nvPr/>
        </p:nvSpPr>
        <p:spPr>
          <a:xfrm>
            <a:off x="472575" y="1291300"/>
            <a:ext cx="113622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accent1"/>
                </a:solidFill>
              </a:rPr>
              <a:t>Análise de viabilidade (orçamentária, técnica, de negócio)</a:t>
            </a:r>
            <a:endParaRPr b="1" sz="2500">
              <a:solidFill>
                <a:schemeClr val="accent1"/>
              </a:solidFill>
            </a:endParaRPr>
          </a:p>
          <a:p>
            <a:pPr indent="-36195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100"/>
              <a:buChar char="❏"/>
            </a:pPr>
            <a:r>
              <a:rPr b="1" lang="en-US" sz="2100">
                <a:solidFill>
                  <a:srgbClr val="333333"/>
                </a:solidFill>
              </a:rPr>
              <a:t>Disponibilidade de dados</a:t>
            </a:r>
            <a:r>
              <a:rPr lang="en-US" sz="2100">
                <a:solidFill>
                  <a:srgbClr val="333333"/>
                </a:solidFill>
              </a:rPr>
              <a:t> (ex: dados internos de uma instituição financeira)</a:t>
            </a:r>
            <a:endParaRPr sz="2100">
              <a:solidFill>
                <a:srgbClr val="333333"/>
              </a:solidFill>
            </a:endParaRPr>
          </a:p>
          <a:p>
            <a:pPr indent="-361950" lvl="0" marL="9144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333333"/>
              </a:buClr>
              <a:buSzPts val="2100"/>
              <a:buChar char="❏"/>
            </a:pPr>
            <a:r>
              <a:rPr b="1" lang="en-US" sz="2100">
                <a:solidFill>
                  <a:srgbClr val="333333"/>
                </a:solidFill>
              </a:rPr>
              <a:t>Necessidade de equipamentos </a:t>
            </a:r>
            <a:r>
              <a:rPr lang="en-US" sz="2100">
                <a:solidFill>
                  <a:srgbClr val="333333"/>
                </a:solidFill>
              </a:rPr>
              <a:t>(ex: GPUs para processar dados)</a:t>
            </a:r>
            <a:endParaRPr sz="2100">
              <a:solidFill>
                <a:srgbClr val="333333"/>
              </a:solidFill>
            </a:endParaRPr>
          </a:p>
          <a:p>
            <a:pPr indent="-361950" lvl="0" marL="9144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333333"/>
              </a:buClr>
              <a:buSzPts val="2100"/>
              <a:buChar char="❏"/>
            </a:pPr>
            <a:r>
              <a:rPr b="1" lang="en-US" sz="2100">
                <a:solidFill>
                  <a:srgbClr val="333333"/>
                </a:solidFill>
              </a:rPr>
              <a:t>Participaç</a:t>
            </a:r>
            <a:r>
              <a:rPr b="1" lang="en-US" sz="2100">
                <a:solidFill>
                  <a:srgbClr val="333333"/>
                </a:solidFill>
              </a:rPr>
              <a:t>ão</a:t>
            </a:r>
            <a:r>
              <a:rPr b="1" lang="en-US" sz="2100">
                <a:solidFill>
                  <a:srgbClr val="333333"/>
                </a:solidFill>
              </a:rPr>
              <a:t> de pessoas e instituiç</a:t>
            </a:r>
            <a:r>
              <a:rPr b="1" lang="en-US" sz="2100">
                <a:solidFill>
                  <a:srgbClr val="333333"/>
                </a:solidFill>
              </a:rPr>
              <a:t>ões</a:t>
            </a:r>
            <a:r>
              <a:rPr lang="en-US" sz="2100">
                <a:solidFill>
                  <a:srgbClr val="333333"/>
                </a:solidFill>
              </a:rPr>
              <a:t> (ex: órgão de governo, perfis profissionais)</a:t>
            </a:r>
            <a:endParaRPr sz="2100">
              <a:solidFill>
                <a:srgbClr val="333333"/>
              </a:solidFill>
            </a:endParaRPr>
          </a:p>
          <a:p>
            <a:pPr indent="-361950" lvl="0" marL="9144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333333"/>
              </a:buClr>
              <a:buSzPts val="2100"/>
              <a:buChar char="❏"/>
            </a:pPr>
            <a:r>
              <a:rPr b="1" lang="en-US" sz="2100">
                <a:solidFill>
                  <a:srgbClr val="333333"/>
                </a:solidFill>
              </a:rPr>
              <a:t>Serviços de terceiros</a:t>
            </a:r>
            <a:r>
              <a:rPr lang="en-US" sz="2100">
                <a:solidFill>
                  <a:srgbClr val="333333"/>
                </a:solidFill>
              </a:rPr>
              <a:t> (ex: confecção de artes, questionários específicos, importação)</a:t>
            </a:r>
            <a:endParaRPr sz="2100">
              <a:solidFill>
                <a:srgbClr val="333333"/>
              </a:solidFill>
            </a:endParaRPr>
          </a:p>
          <a:p>
            <a:pPr indent="-361950" lvl="0" marL="914400" rtl="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333333"/>
              </a:buClr>
              <a:buSzPts val="2100"/>
              <a:buChar char="❏"/>
            </a:pPr>
            <a:r>
              <a:rPr b="1" lang="en-US" sz="2100">
                <a:solidFill>
                  <a:srgbClr val="333333"/>
                </a:solidFill>
              </a:rPr>
              <a:t>Ajudas de custo</a:t>
            </a:r>
            <a:r>
              <a:rPr lang="en-US" sz="2100">
                <a:solidFill>
                  <a:srgbClr val="333333"/>
                </a:solidFill>
              </a:rPr>
              <a:t> (ex: diárias de pessoas envolvidas, inscrição em eventos)</a:t>
            </a:r>
            <a:endParaRPr sz="21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e1d6d68533_0_230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g3e1d6d68533_0_230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Cronograma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770" name="Google Shape;770;g3e1d6d68533_0_230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g3e1d6d68533_0_230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g3e1d6d68533_0_2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73" name="Google Shape;773;g3e1d6d68533_0_2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774" name="Google Shape;774;g3e1d6d68533_0_2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g3e1d6d68533_0_230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776" name="Google Shape;776;g3e1d6d68533_0_230"/>
          <p:cNvSpPr txBox="1"/>
          <p:nvPr/>
        </p:nvSpPr>
        <p:spPr>
          <a:xfrm>
            <a:off x="438825" y="1291300"/>
            <a:ext cx="11396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US" sz="2500">
                <a:solidFill>
                  <a:srgbClr val="333333"/>
                </a:solidFill>
              </a:rPr>
              <a:t>Delimitação temporal de cada etapa do projeto de pesquisa</a:t>
            </a:r>
            <a:endParaRPr sz="2100">
              <a:solidFill>
                <a:srgbClr val="333333"/>
              </a:solidFill>
            </a:endParaRPr>
          </a:p>
        </p:txBody>
      </p:sp>
      <p:pic>
        <p:nvPicPr>
          <p:cNvPr id="777" name="Google Shape;777;g3e1d6d68533_0_2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5943" y="2149463"/>
            <a:ext cx="9020129" cy="3602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e1d6d68533_0_241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g3e1d6d68533_0_241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Parte interna – Elementos p</a:t>
            </a: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ós</a:t>
            </a: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-textuais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784" name="Google Shape;784;g3e1d6d68533_0_241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g3e1d6d68533_0_241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g3e1d6d68533_0_2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87" name="Google Shape;787;g3e1d6d68533_0_2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788" name="Google Shape;788;g3e1d6d68533_0_2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g3e1d6d68533_0_241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790" name="Google Shape;790;g3e1d6d68533_0_241"/>
          <p:cNvSpPr txBox="1"/>
          <p:nvPr/>
        </p:nvSpPr>
        <p:spPr>
          <a:xfrm>
            <a:off x="472575" y="1197950"/>
            <a:ext cx="3936300" cy="4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333333"/>
                </a:solidFill>
              </a:rPr>
              <a:t>Referências</a:t>
            </a:r>
            <a:endParaRPr b="1" sz="25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33333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Char char="❏"/>
            </a:pPr>
            <a:r>
              <a:rPr lang="en-US" sz="2200">
                <a:solidFill>
                  <a:srgbClr val="333333"/>
                </a:solidFill>
              </a:rPr>
              <a:t>Elemento obrigatório – nenhum conhecimento nasce completamente do nada</a:t>
            </a:r>
            <a:endParaRPr sz="2200">
              <a:solidFill>
                <a:srgbClr val="33333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333333"/>
              </a:buClr>
              <a:buSzPts val="2200"/>
              <a:buChar char="❏"/>
            </a:pPr>
            <a:r>
              <a:rPr lang="en-US" sz="2200">
                <a:solidFill>
                  <a:srgbClr val="333333"/>
                </a:solidFill>
              </a:rPr>
              <a:t>Materiais (livros, artigos, websites, podcasts, etc) utilizados para a escrita do texto</a:t>
            </a:r>
            <a:endParaRPr sz="2200">
              <a:solidFill>
                <a:srgbClr val="333333"/>
              </a:solidFill>
            </a:endParaRPr>
          </a:p>
        </p:txBody>
      </p:sp>
      <p:pic>
        <p:nvPicPr>
          <p:cNvPr id="791" name="Google Shape;791;g3e1d6d68533_0_2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81600" y="1660111"/>
            <a:ext cx="7099325" cy="3892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e1d6d68533_0_288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g3e1d6d68533_0_288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Parte interna – Elementos pós-textuais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798" name="Google Shape;798;g3e1d6d68533_0_288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g3e1d6d68533_0_288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g3e1d6d68533_0_28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01" name="Google Shape;801;g3e1d6d68533_0_2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802" name="Google Shape;802;g3e1d6d68533_0_2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g3e1d6d68533_0_288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804" name="Google Shape;804;g3e1d6d68533_0_288"/>
          <p:cNvSpPr txBox="1"/>
          <p:nvPr/>
        </p:nvSpPr>
        <p:spPr>
          <a:xfrm>
            <a:off x="472575" y="1197950"/>
            <a:ext cx="5701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333333"/>
                </a:solidFill>
              </a:rPr>
              <a:t>Apêndices e Anexos</a:t>
            </a:r>
            <a:endParaRPr sz="2200">
              <a:solidFill>
                <a:srgbClr val="333333"/>
              </a:solidFill>
            </a:endParaRPr>
          </a:p>
        </p:txBody>
      </p:sp>
      <p:pic>
        <p:nvPicPr>
          <p:cNvPr id="805" name="Google Shape;805;g3e1d6d68533_0_288"/>
          <p:cNvPicPr preferRelativeResize="0"/>
          <p:nvPr/>
        </p:nvPicPr>
        <p:blipFill rotWithShape="1">
          <a:blip r:embed="rId5">
            <a:alphaModFix/>
          </a:blip>
          <a:srcRect b="14392" l="0" r="0" t="21159"/>
          <a:stretch/>
        </p:blipFill>
        <p:spPr>
          <a:xfrm>
            <a:off x="1104650" y="2143174"/>
            <a:ext cx="9982701" cy="359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e1d6d68533_0_254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g3e1d6d68533_0_254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Parte interna – Elementos pós-textuais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812" name="Google Shape;812;g3e1d6d68533_0_254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g3e1d6d68533_0_254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g3e1d6d68533_0_2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15" name="Google Shape;815;g3e1d6d68533_0_2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816" name="Google Shape;816;g3e1d6d68533_0_2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g3e1d6d68533_0_254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818" name="Google Shape;818;g3e1d6d68533_0_254"/>
          <p:cNvSpPr txBox="1"/>
          <p:nvPr/>
        </p:nvSpPr>
        <p:spPr>
          <a:xfrm>
            <a:off x="472575" y="1197950"/>
            <a:ext cx="6844800" cy="4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333333"/>
                </a:solidFill>
              </a:rPr>
              <a:t>Glossário</a:t>
            </a:r>
            <a:endParaRPr b="1" sz="25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33333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Char char="❏"/>
            </a:pPr>
            <a:r>
              <a:rPr lang="en-US" sz="2200">
                <a:solidFill>
                  <a:srgbClr val="333333"/>
                </a:solidFill>
              </a:rPr>
              <a:t>Palavras ou expressões técnicas de uso restrito ou de sentido obscuro, utilizadas no texto, acompanhadas das respectivas definições</a:t>
            </a:r>
            <a:endParaRPr sz="2200">
              <a:solidFill>
                <a:srgbClr val="33333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333333"/>
              </a:buClr>
              <a:buSzPts val="2200"/>
              <a:buChar char="❏"/>
            </a:pPr>
            <a:r>
              <a:rPr lang="en-US" sz="2200">
                <a:solidFill>
                  <a:srgbClr val="333333"/>
                </a:solidFill>
              </a:rPr>
              <a:t>Listadas em ordem alfabética</a:t>
            </a:r>
            <a:endParaRPr sz="2200">
              <a:solidFill>
                <a:srgbClr val="333333"/>
              </a:solidFill>
            </a:endParaRPr>
          </a:p>
        </p:txBody>
      </p:sp>
      <p:pic>
        <p:nvPicPr>
          <p:cNvPr id="819" name="Google Shape;819;g3e1d6d68533_0_2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35125" y="1082950"/>
            <a:ext cx="3429136" cy="48493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0" name="Google Shape;820;g3e1d6d68533_0_254"/>
          <p:cNvSpPr txBox="1"/>
          <p:nvPr/>
        </p:nvSpPr>
        <p:spPr>
          <a:xfrm>
            <a:off x="2571750" y="5457050"/>
            <a:ext cx="50355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757575"/>
                </a:solidFill>
              </a:rPr>
              <a:t>Fonte</a:t>
            </a:r>
            <a:r>
              <a:rPr b="1" lang="en-US" sz="900">
                <a:solidFill>
                  <a:srgbClr val="757575"/>
                </a:solidFill>
              </a:rPr>
              <a:t>: </a:t>
            </a:r>
            <a:r>
              <a:rPr lang="en-US" sz="900">
                <a:solidFill>
                  <a:srgbClr val="757575"/>
                </a:solidFill>
              </a:rPr>
              <a:t>NORMAS da ABNT. Mundo Educação. Disponível em: https://mundoeducacao.uol.com.br/redacao/normas-da-abnt.htm. Acesso em: 14 maio 2026.</a:t>
            </a:r>
            <a:endParaRPr sz="900">
              <a:solidFill>
                <a:srgbClr val="757575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e1d6d68533_0_267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g3e1d6d68533_0_267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Parte interna – Elementos pós-textuais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827" name="Google Shape;827;g3e1d6d68533_0_267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g3e1d6d68533_0_267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g3e1d6d68533_0_26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30" name="Google Shape;830;g3e1d6d68533_0_2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831" name="Google Shape;831;g3e1d6d68533_0_2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g3e1d6d68533_0_267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833" name="Google Shape;833;g3e1d6d68533_0_267"/>
          <p:cNvSpPr txBox="1"/>
          <p:nvPr/>
        </p:nvSpPr>
        <p:spPr>
          <a:xfrm>
            <a:off x="472575" y="1197950"/>
            <a:ext cx="6844800" cy="4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333333"/>
                </a:solidFill>
              </a:rPr>
              <a:t>Índice</a:t>
            </a:r>
            <a:endParaRPr b="1" sz="2500">
              <a:solidFill>
                <a:srgbClr val="33333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200"/>
              <a:buChar char="❏"/>
            </a:pPr>
            <a:r>
              <a:rPr lang="en-US" sz="2200">
                <a:solidFill>
                  <a:srgbClr val="333333"/>
                </a:solidFill>
              </a:rPr>
              <a:t>ABNT NBR 6034</a:t>
            </a:r>
            <a:endParaRPr sz="2200">
              <a:solidFill>
                <a:srgbClr val="33333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333333"/>
              </a:buClr>
              <a:buSzPts val="2200"/>
              <a:buChar char="❏"/>
            </a:pPr>
            <a:r>
              <a:rPr lang="en-US" sz="2200">
                <a:solidFill>
                  <a:srgbClr val="333333"/>
                </a:solidFill>
              </a:rPr>
              <a:t>R</a:t>
            </a:r>
            <a:r>
              <a:rPr lang="en-US" sz="2200">
                <a:solidFill>
                  <a:srgbClr val="333333"/>
                </a:solidFill>
              </a:rPr>
              <a:t>elação de palavras ou frases, ordenadas segundo determinado critério, que localiza e remete para as informações contidas no texto</a:t>
            </a:r>
            <a:endParaRPr sz="2200">
              <a:solidFill>
                <a:srgbClr val="33333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333333"/>
              </a:buClr>
              <a:buSzPts val="2200"/>
              <a:buChar char="❏"/>
            </a:pPr>
            <a:r>
              <a:rPr lang="en-US" sz="2200">
                <a:solidFill>
                  <a:srgbClr val="333333"/>
                </a:solidFill>
              </a:rPr>
              <a:t>Ordem é definida pelo autor: alfabética, alfanumérica, cronológica, por assunto, etc.</a:t>
            </a:r>
            <a:endParaRPr sz="2200">
              <a:solidFill>
                <a:srgbClr val="333333"/>
              </a:solidFill>
            </a:endParaRPr>
          </a:p>
        </p:txBody>
      </p:sp>
      <p:pic>
        <p:nvPicPr>
          <p:cNvPr id="834" name="Google Shape;834;g3e1d6d68533_0_2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4704" y="1141737"/>
            <a:ext cx="3414988" cy="48292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35" name="Google Shape;835;g3e1d6d68533_0_267"/>
          <p:cNvSpPr txBox="1"/>
          <p:nvPr/>
        </p:nvSpPr>
        <p:spPr>
          <a:xfrm>
            <a:off x="2571750" y="5457050"/>
            <a:ext cx="50355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757575"/>
                </a:solidFill>
              </a:rPr>
              <a:t>Fonte: </a:t>
            </a:r>
            <a:r>
              <a:rPr lang="en-US" sz="900">
                <a:solidFill>
                  <a:srgbClr val="757575"/>
                </a:solidFill>
              </a:rPr>
              <a:t>NORMAS da ABNT. Mundo Educação. Disponível em: https://mundoeducacao.uol.com.br/redacao/normas-da-abnt.htm. Acesso em: 14 maio 2026.</a:t>
            </a:r>
            <a:endParaRPr sz="900">
              <a:solidFill>
                <a:srgbClr val="757575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e1d6d68533_0_302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g3e1d6d68533_0_302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4762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Regras gerais de formatação importantes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842" name="Google Shape;842;g3e1d6d68533_0_302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g3e1d6d68533_0_302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g3e1d6d68533_0_30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45" name="Google Shape;845;g3e1d6d68533_0_3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846" name="Google Shape;846;g3e1d6d68533_0_3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g3e1d6d68533_0_302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848" name="Google Shape;848;g3e1d6d68533_0_302"/>
          <p:cNvSpPr txBox="1"/>
          <p:nvPr/>
        </p:nvSpPr>
        <p:spPr>
          <a:xfrm>
            <a:off x="472575" y="1197950"/>
            <a:ext cx="11110500" cy="13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333333"/>
                </a:solidFill>
              </a:rPr>
              <a:t>Siglas</a:t>
            </a:r>
            <a:endParaRPr b="1" sz="2500">
              <a:solidFill>
                <a:srgbClr val="33333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2000"/>
              </a:spcAft>
              <a:buClr>
                <a:srgbClr val="333333"/>
              </a:buClr>
              <a:buSzPts val="2200"/>
              <a:buChar char="❏"/>
            </a:pPr>
            <a:r>
              <a:rPr lang="en-US" sz="2200">
                <a:solidFill>
                  <a:srgbClr val="333333"/>
                </a:solidFill>
              </a:rPr>
              <a:t>Primeira menção exige nome completo seguido da sigla entre parênteses.</a:t>
            </a:r>
            <a:endParaRPr sz="2200">
              <a:solidFill>
                <a:srgbClr val="333333"/>
              </a:solidFill>
            </a:endParaRPr>
          </a:p>
        </p:txBody>
      </p:sp>
      <p:pic>
        <p:nvPicPr>
          <p:cNvPr id="849" name="Google Shape;849;g3e1d6d68533_0_3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1850" y="3020000"/>
            <a:ext cx="5348300" cy="212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e1d6d68533_0_316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g3e1d6d68533_0_316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4762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Regras gerais de formatação importantes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856" name="Google Shape;856;g3e1d6d68533_0_316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g3e1d6d68533_0_316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g3e1d6d68533_0_3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59" name="Google Shape;859;g3e1d6d68533_0_3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860" name="Google Shape;860;g3e1d6d68533_0_3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g3e1d6d68533_0_316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862" name="Google Shape;862;g3e1d6d68533_0_316"/>
          <p:cNvSpPr txBox="1"/>
          <p:nvPr/>
        </p:nvSpPr>
        <p:spPr>
          <a:xfrm>
            <a:off x="472575" y="1197950"/>
            <a:ext cx="114678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333333"/>
                </a:solidFill>
              </a:rPr>
              <a:t>Equações e fórmulas</a:t>
            </a:r>
            <a:endParaRPr b="1" sz="2500">
              <a:solidFill>
                <a:srgbClr val="33333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200"/>
              <a:buChar char="❏"/>
            </a:pPr>
            <a:r>
              <a:rPr lang="en-US" sz="2200">
                <a:solidFill>
                  <a:srgbClr val="333333"/>
                </a:solidFill>
              </a:rPr>
              <a:t>Recomenda-se que equações e fórmulas sejam destacadas no texto</a:t>
            </a:r>
            <a:endParaRPr sz="2200">
              <a:solidFill>
                <a:srgbClr val="33333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333333"/>
              </a:buClr>
              <a:buSzPts val="2200"/>
              <a:buChar char="❏"/>
            </a:pPr>
            <a:r>
              <a:rPr lang="en-US" sz="2200">
                <a:solidFill>
                  <a:srgbClr val="333333"/>
                </a:solidFill>
              </a:rPr>
              <a:t>Devem ser numeradas com algarismos ar</a:t>
            </a:r>
            <a:r>
              <a:rPr lang="en-US" sz="2200">
                <a:solidFill>
                  <a:srgbClr val="333333"/>
                </a:solidFill>
              </a:rPr>
              <a:t>ábicos (1, 2, 3, …) entre parênteses e alinhados à direita</a:t>
            </a:r>
            <a:endParaRPr sz="2200">
              <a:solidFill>
                <a:srgbClr val="33333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333333"/>
              </a:buClr>
              <a:buSzPts val="2200"/>
              <a:buChar char="❏"/>
            </a:pPr>
            <a:r>
              <a:rPr lang="en-US" sz="2200">
                <a:solidFill>
                  <a:srgbClr val="333333"/>
                </a:solidFill>
              </a:rPr>
              <a:t>Nas menções subsequentes, usar somente o número</a:t>
            </a:r>
            <a:endParaRPr sz="2200">
              <a:solidFill>
                <a:srgbClr val="333333"/>
              </a:solidFill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Clr>
                <a:srgbClr val="333333"/>
              </a:buClr>
              <a:buSzPts val="2200"/>
              <a:buChar char="❏"/>
            </a:pPr>
            <a:r>
              <a:rPr b="1" lang="en-US" sz="1800">
                <a:solidFill>
                  <a:srgbClr val="333333"/>
                </a:solidFill>
              </a:rPr>
              <a:t>Exemplo:</a:t>
            </a:r>
            <a:r>
              <a:rPr lang="en-US" sz="1900">
                <a:solidFill>
                  <a:srgbClr val="333333"/>
                </a:solidFill>
              </a:rPr>
              <a:t> </a:t>
            </a:r>
            <a:r>
              <a:rPr i="1" lang="en-US" sz="1800">
                <a:solidFill>
                  <a:srgbClr val="333333"/>
                </a:solidFill>
              </a:rPr>
              <a:t>…de acordo com a equação (5), …</a:t>
            </a:r>
            <a:endParaRPr i="1" sz="1800">
              <a:solidFill>
                <a:srgbClr val="333333"/>
              </a:solidFill>
            </a:endParaRPr>
          </a:p>
        </p:txBody>
      </p:sp>
      <p:pic>
        <p:nvPicPr>
          <p:cNvPr id="863" name="Google Shape;863;g3e1d6d68533_0_3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850" y="4778686"/>
            <a:ext cx="11062300" cy="95421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e1d6d68533_0_330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g3e1d6d68533_0_330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4762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Regras gerais de formatação importantes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870" name="Google Shape;870;g3e1d6d68533_0_330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g3e1d6d68533_0_330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g3e1d6d68533_0_3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3" name="Google Shape;873;g3e1d6d68533_0_3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874" name="Google Shape;874;g3e1d6d68533_0_3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g3e1d6d68533_0_330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876" name="Google Shape;876;g3e1d6d68533_0_330"/>
          <p:cNvSpPr txBox="1"/>
          <p:nvPr/>
        </p:nvSpPr>
        <p:spPr>
          <a:xfrm>
            <a:off x="472575" y="1197950"/>
            <a:ext cx="6507900" cy="48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333333"/>
                </a:solidFill>
              </a:rPr>
              <a:t>Ilustrações</a:t>
            </a:r>
            <a:endParaRPr b="1" sz="2500">
              <a:solidFill>
                <a:srgbClr val="333333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700"/>
              <a:buChar char="❏"/>
            </a:pPr>
            <a:r>
              <a:rPr b="1" lang="en-US" sz="1700">
                <a:solidFill>
                  <a:srgbClr val="333333"/>
                </a:solidFill>
              </a:rPr>
              <a:t>Tipos comuns de ilustração:</a:t>
            </a:r>
            <a:r>
              <a:rPr lang="en-US" sz="1700">
                <a:solidFill>
                  <a:srgbClr val="333333"/>
                </a:solidFill>
              </a:rPr>
              <a:t> Gráfico, diagrama, desenho, fotografia, mapa, imagem, esquema, organograma, quadro, figura, planta, fluxo, algoritmo, trecho de código de computador</a:t>
            </a:r>
            <a:endParaRPr sz="1300">
              <a:solidFill>
                <a:srgbClr val="333333"/>
              </a:solidFill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700"/>
              <a:buChar char="❏"/>
            </a:pPr>
            <a:r>
              <a:rPr b="1" lang="en-US" sz="1700">
                <a:solidFill>
                  <a:srgbClr val="333333"/>
                </a:solidFill>
              </a:rPr>
              <a:t>Identificação na parte superior</a:t>
            </a:r>
            <a:r>
              <a:rPr lang="en-US" sz="1700">
                <a:solidFill>
                  <a:srgbClr val="333333"/>
                </a:solidFill>
              </a:rPr>
              <a:t>, com palavra designativa, número de ordem (em arábico), travessão e título</a:t>
            </a:r>
            <a:endParaRPr sz="1700">
              <a:solidFill>
                <a:srgbClr val="333333"/>
              </a:solidFill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700"/>
              <a:buChar char="❏"/>
            </a:pPr>
            <a:r>
              <a:rPr b="1" lang="en-US" sz="1700">
                <a:solidFill>
                  <a:srgbClr val="333333"/>
                </a:solidFill>
              </a:rPr>
              <a:t>Fonte na parte inferior</a:t>
            </a:r>
            <a:r>
              <a:rPr lang="en-US" sz="1700">
                <a:solidFill>
                  <a:srgbClr val="333333"/>
                </a:solidFill>
              </a:rPr>
              <a:t>, mesmo que seja do autor (nesse caso, constar “elaborada pelo próprio autor”, “elaboração própria”, “o próprio autor”, etc)</a:t>
            </a:r>
            <a:endParaRPr sz="1700">
              <a:solidFill>
                <a:srgbClr val="333333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2000"/>
              </a:spcAft>
              <a:buClr>
                <a:srgbClr val="333333"/>
              </a:buClr>
              <a:buSzPts val="1700"/>
              <a:buChar char="❏"/>
            </a:pPr>
            <a:r>
              <a:rPr lang="en-US" sz="1700">
                <a:solidFill>
                  <a:srgbClr val="333333"/>
                </a:solidFill>
              </a:rPr>
              <a:t>Devem ser inseridas o mais próximo possível de sua indicação no texto (</a:t>
            </a:r>
            <a:r>
              <a:rPr b="1" lang="en-US" sz="1700">
                <a:solidFill>
                  <a:srgbClr val="333333"/>
                </a:solidFill>
              </a:rPr>
              <a:t>toda ilustração deve ser referenciada</a:t>
            </a:r>
            <a:r>
              <a:rPr lang="en-US" sz="1700">
                <a:solidFill>
                  <a:srgbClr val="333333"/>
                </a:solidFill>
              </a:rPr>
              <a:t>)</a:t>
            </a:r>
            <a:endParaRPr sz="1700">
              <a:solidFill>
                <a:srgbClr val="333333"/>
              </a:solidFill>
            </a:endParaRPr>
          </a:p>
        </p:txBody>
      </p:sp>
      <p:pic>
        <p:nvPicPr>
          <p:cNvPr id="877" name="Google Shape;877;g3e1d6d68533_0_3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0475" y="2008200"/>
            <a:ext cx="4987775" cy="3665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e1d6d68533_0_344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g3e1d6d68533_0_344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4762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Regras gerais de formatação importantes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884" name="Google Shape;884;g3e1d6d68533_0_344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g3e1d6d68533_0_344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g3e1d6d68533_0_3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87" name="Google Shape;887;g3e1d6d68533_0_3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888" name="Google Shape;888;g3e1d6d68533_0_3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g3e1d6d68533_0_344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890" name="Google Shape;890;g3e1d6d68533_0_344"/>
          <p:cNvSpPr txBox="1"/>
          <p:nvPr/>
        </p:nvSpPr>
        <p:spPr>
          <a:xfrm>
            <a:off x="472575" y="1197950"/>
            <a:ext cx="11283900" cy="48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333333"/>
                </a:solidFill>
              </a:rPr>
              <a:t>Tabelas</a:t>
            </a:r>
            <a:endParaRPr b="1" sz="2500">
              <a:solidFill>
                <a:srgbClr val="333333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700"/>
              <a:buChar char="❏"/>
            </a:pPr>
            <a:r>
              <a:rPr lang="en-US" sz="1700">
                <a:solidFill>
                  <a:srgbClr val="333333"/>
                </a:solidFill>
              </a:rPr>
              <a:t>Devem ser inseridas o mais próximo possível de sua indicação no texto (</a:t>
            </a:r>
            <a:r>
              <a:rPr b="1" lang="en-US" sz="1700">
                <a:solidFill>
                  <a:srgbClr val="333333"/>
                </a:solidFill>
              </a:rPr>
              <a:t>toda tabela deve ser referenciada</a:t>
            </a:r>
            <a:r>
              <a:rPr lang="en-US" sz="1700">
                <a:solidFill>
                  <a:srgbClr val="333333"/>
                </a:solidFill>
              </a:rPr>
              <a:t>)</a:t>
            </a:r>
            <a:endParaRPr b="1" sz="1700">
              <a:solidFill>
                <a:srgbClr val="333333"/>
              </a:solidFill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700"/>
              <a:buChar char="❏"/>
            </a:pPr>
            <a:r>
              <a:rPr b="1" lang="en-US" sz="1700">
                <a:solidFill>
                  <a:srgbClr val="333333"/>
                </a:solidFill>
              </a:rPr>
              <a:t>Identificação na parte superior</a:t>
            </a:r>
            <a:r>
              <a:rPr lang="en-US" sz="1700">
                <a:solidFill>
                  <a:srgbClr val="333333"/>
                </a:solidFill>
              </a:rPr>
              <a:t>, com palavra designativa, número de ordem (em arábico), travessão e título</a:t>
            </a:r>
            <a:endParaRPr sz="1700">
              <a:solidFill>
                <a:srgbClr val="333333"/>
              </a:solidFill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333333"/>
              </a:buClr>
              <a:buSzPts val="1700"/>
              <a:buChar char="❏"/>
            </a:pPr>
            <a:r>
              <a:rPr b="1" lang="en-US" sz="1700">
                <a:solidFill>
                  <a:srgbClr val="333333"/>
                </a:solidFill>
              </a:rPr>
              <a:t>Fonte na parte inferior</a:t>
            </a:r>
            <a:r>
              <a:rPr lang="en-US" sz="1700">
                <a:solidFill>
                  <a:srgbClr val="333333"/>
                </a:solidFill>
              </a:rPr>
              <a:t>, mesmo que seja do autor (nesse caso, constar “elaborada pelo próprio autor”, “elaboração própria”, “o próprio autor”, etc)</a:t>
            </a:r>
            <a:endParaRPr sz="1700">
              <a:solidFill>
                <a:srgbClr val="333333"/>
              </a:solidFill>
            </a:endParaRPr>
          </a:p>
        </p:txBody>
      </p:sp>
      <p:pic>
        <p:nvPicPr>
          <p:cNvPr id="891" name="Google Shape;891;g3e1d6d68533_0_3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5375" y="3676800"/>
            <a:ext cx="5107849" cy="229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3e1d6d68533_0_365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g3e1d6d68533_0_365"/>
          <p:cNvSpPr txBox="1"/>
          <p:nvPr>
            <p:ph type="title"/>
          </p:nvPr>
        </p:nvSpPr>
        <p:spPr>
          <a:xfrm>
            <a:off x="1496192" y="2292130"/>
            <a:ext cx="9189900" cy="19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</a:pPr>
            <a:r>
              <a:rPr b="1" lang="en-US" sz="5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Análise de Problemas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98" name="Google Shape;898;g3e1d6d68533_0_365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9" name="Google Shape;899;g3e1d6d68533_0_3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65777" y="295605"/>
            <a:ext cx="582448" cy="556172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g3e1d6d68533_0_365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pic>
        <p:nvPicPr>
          <p:cNvPr descr="Uma imagem contendo objeto, relógio de pulso, relógio, placar&#10;&#10;O conteúdo gerado por IA pode estar incorreto." id="901" name="Google Shape;901;g3e1d6d68533_0_3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3e1d6d68533_0_175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g3e1d6d68533_0_175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Técnicas de análise de problemas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908" name="Google Shape;908;g3e1d6d68533_0_175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g3e1d6d68533_0_175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g3e1d6d68533_0_17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11" name="Google Shape;911;g3e1d6d68533_0_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912" name="Google Shape;912;g3e1d6d68533_0_1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g3e1d6d68533_0_175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914" name="Google Shape;914;g3e1d6d68533_0_175"/>
          <p:cNvSpPr txBox="1"/>
          <p:nvPr/>
        </p:nvSpPr>
        <p:spPr>
          <a:xfrm>
            <a:off x="472575" y="1197950"/>
            <a:ext cx="11559600" cy="4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Char char="❏"/>
            </a:pPr>
            <a:r>
              <a:rPr lang="en-US" sz="2200">
                <a:solidFill>
                  <a:srgbClr val="333333"/>
                </a:solidFill>
              </a:rPr>
              <a:t>Brainstorming (tempestade de ideias)</a:t>
            </a:r>
            <a:endParaRPr sz="2200">
              <a:solidFill>
                <a:srgbClr val="33333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333333"/>
              </a:buClr>
              <a:buSzPts val="2200"/>
              <a:buChar char="❏"/>
            </a:pPr>
            <a:r>
              <a:rPr lang="en-US" sz="2200">
                <a:solidFill>
                  <a:srgbClr val="333333"/>
                </a:solidFill>
              </a:rPr>
              <a:t>An</a:t>
            </a:r>
            <a:r>
              <a:rPr lang="en-US" sz="2200">
                <a:solidFill>
                  <a:srgbClr val="333333"/>
                </a:solidFill>
              </a:rPr>
              <a:t>álise de causa raiz (diagrama de Ishikawa)</a:t>
            </a:r>
            <a:endParaRPr sz="2200">
              <a:solidFill>
                <a:srgbClr val="33333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333333"/>
              </a:buClr>
              <a:buSzPts val="2200"/>
              <a:buChar char="❏"/>
            </a:pPr>
            <a:r>
              <a:rPr lang="en-US" sz="2200">
                <a:solidFill>
                  <a:srgbClr val="333333"/>
                </a:solidFill>
              </a:rPr>
              <a:t>5W2H</a:t>
            </a:r>
            <a:endParaRPr sz="22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e1d6d68533_0_385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g3e1d6d68533_0_385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Brainstorming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921" name="Google Shape;921;g3e1d6d68533_0_385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g3e1d6d68533_0_385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g3e1d6d68533_0_38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4" name="Google Shape;924;g3e1d6d68533_0_3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925" name="Google Shape;925;g3e1d6d68533_0_3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g3e1d6d68533_0_385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927" name="Google Shape;927;g3e1d6d68533_0_385"/>
          <p:cNvSpPr txBox="1"/>
          <p:nvPr/>
        </p:nvSpPr>
        <p:spPr>
          <a:xfrm>
            <a:off x="391500" y="1170038"/>
            <a:ext cx="4865400" cy="3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33333"/>
                </a:solidFill>
              </a:rPr>
              <a:t>“Tempestade de ideias”</a:t>
            </a:r>
            <a:endParaRPr b="1" sz="22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33333"/>
                </a:solidFill>
              </a:rPr>
              <a:t>Método de </a:t>
            </a:r>
            <a:r>
              <a:rPr b="1" lang="en-US" sz="2200">
                <a:solidFill>
                  <a:srgbClr val="333333"/>
                </a:solidFill>
              </a:rPr>
              <a:t>geração de ideias</a:t>
            </a:r>
            <a:r>
              <a:rPr lang="en-US" sz="2200">
                <a:solidFill>
                  <a:srgbClr val="333333"/>
                </a:solidFill>
              </a:rPr>
              <a:t> para definição ou resolução de problemas.</a:t>
            </a:r>
            <a:endParaRPr sz="22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33333"/>
                </a:solidFill>
              </a:rPr>
              <a:t>Normalmente realizado em equipe, mas não necessariamente.</a:t>
            </a:r>
            <a:endParaRPr sz="22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200">
                <a:solidFill>
                  <a:srgbClr val="333333"/>
                </a:solidFill>
              </a:rPr>
              <a:t>Identificação de </a:t>
            </a:r>
            <a:r>
              <a:rPr b="1" lang="en-US" sz="2200">
                <a:solidFill>
                  <a:srgbClr val="333333"/>
                </a:solidFill>
              </a:rPr>
              <a:t>soluções criativas</a:t>
            </a:r>
            <a:r>
              <a:rPr lang="en-US" sz="2200">
                <a:solidFill>
                  <a:srgbClr val="333333"/>
                </a:solidFill>
              </a:rPr>
              <a:t>.</a:t>
            </a:r>
            <a:endParaRPr sz="2200">
              <a:solidFill>
                <a:srgbClr val="333333"/>
              </a:solidFill>
            </a:endParaRPr>
          </a:p>
        </p:txBody>
      </p:sp>
      <p:pic>
        <p:nvPicPr>
          <p:cNvPr id="928" name="Google Shape;928;g3e1d6d68533_0_3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57250" y="1393800"/>
            <a:ext cx="6106076" cy="3759900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g3e1d6d68533_0_385"/>
          <p:cNvSpPr txBox="1"/>
          <p:nvPr/>
        </p:nvSpPr>
        <p:spPr>
          <a:xfrm>
            <a:off x="5657250" y="5225125"/>
            <a:ext cx="5925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757575"/>
                </a:solidFill>
              </a:rPr>
              <a:t>Fonte: </a:t>
            </a:r>
            <a:r>
              <a:rPr lang="en-US" sz="1100">
                <a:solidFill>
                  <a:srgbClr val="757575"/>
                </a:solidFill>
              </a:rPr>
              <a:t>https://www.locaweb.com.br/blog/temas/como-vender-mais/brainstorming-o-que-e/</a:t>
            </a:r>
            <a:endParaRPr sz="1100">
              <a:solidFill>
                <a:srgbClr val="757575"/>
              </a:solidFill>
            </a:endParaRPr>
          </a:p>
        </p:txBody>
      </p:sp>
      <p:sp>
        <p:nvSpPr>
          <p:cNvPr id="930" name="Google Shape;930;g3e1d6d68533_0_385"/>
          <p:cNvSpPr txBox="1"/>
          <p:nvPr/>
        </p:nvSpPr>
        <p:spPr>
          <a:xfrm>
            <a:off x="451625" y="4626763"/>
            <a:ext cx="4650900" cy="10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B050"/>
                </a:solidFill>
              </a:rPr>
              <a:t>Ótima técnica para geraç</a:t>
            </a:r>
            <a:r>
              <a:rPr b="1" lang="en-US" sz="2800">
                <a:solidFill>
                  <a:srgbClr val="00B050"/>
                </a:solidFill>
              </a:rPr>
              <a:t>ão</a:t>
            </a:r>
            <a:r>
              <a:rPr b="1" lang="en-US" sz="2800">
                <a:solidFill>
                  <a:srgbClr val="00B050"/>
                </a:solidFill>
              </a:rPr>
              <a:t> de hipóteses!</a:t>
            </a:r>
            <a:endParaRPr sz="15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e1d6d68533_0_423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g3e1d6d68533_0_423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Análise de causa raiz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937" name="Google Shape;937;g3e1d6d68533_0_423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g3e1d6d68533_0_423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g3e1d6d68533_0_4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40" name="Google Shape;940;g3e1d6d68533_0_4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941" name="Google Shape;941;g3e1d6d68533_0_4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g3e1d6d68533_0_423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943" name="Google Shape;943;g3e1d6d68533_0_423"/>
          <p:cNvSpPr txBox="1"/>
          <p:nvPr/>
        </p:nvSpPr>
        <p:spPr>
          <a:xfrm>
            <a:off x="441425" y="1416238"/>
            <a:ext cx="4781100" cy="1829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33"/>
                </a:solidFill>
              </a:rPr>
              <a:t>Diagrama de Ishikawa</a:t>
            </a:r>
            <a:endParaRPr b="1" sz="18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33"/>
                </a:solidFill>
              </a:rPr>
              <a:t>Diagrama de causa e efeito</a:t>
            </a:r>
            <a:endParaRPr b="1" sz="18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33"/>
                </a:solidFill>
              </a:rPr>
              <a:t>Diagrama de espinha de peixe (</a:t>
            </a:r>
            <a:r>
              <a:rPr b="1" i="1" lang="en-US" sz="1800">
                <a:solidFill>
                  <a:srgbClr val="333333"/>
                </a:solidFill>
              </a:rPr>
              <a:t>fishbone</a:t>
            </a:r>
            <a:r>
              <a:rPr b="1" lang="en-US" sz="1800">
                <a:solidFill>
                  <a:srgbClr val="333333"/>
                </a:solidFill>
              </a:rPr>
              <a:t>)</a:t>
            </a:r>
            <a:endParaRPr b="1" sz="18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33"/>
                </a:solidFill>
              </a:rPr>
              <a:t>Diagrama 6M</a:t>
            </a:r>
            <a:endParaRPr b="1" sz="1800">
              <a:solidFill>
                <a:srgbClr val="333333"/>
              </a:solidFill>
            </a:endParaRPr>
          </a:p>
        </p:txBody>
      </p:sp>
      <p:pic>
        <p:nvPicPr>
          <p:cNvPr id="944" name="Google Shape;944;g3e1d6d68533_0_423"/>
          <p:cNvPicPr preferRelativeResize="0"/>
          <p:nvPr/>
        </p:nvPicPr>
        <p:blipFill rotWithShape="1">
          <a:blip r:embed="rId5">
            <a:alphaModFix/>
          </a:blip>
          <a:srcRect b="8638" l="2683" r="1495" t="4458"/>
          <a:stretch/>
        </p:blipFill>
        <p:spPr>
          <a:xfrm>
            <a:off x="5500700" y="1341850"/>
            <a:ext cx="6500801" cy="417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g3e1d6d68533_0_423"/>
          <p:cNvSpPr txBox="1"/>
          <p:nvPr/>
        </p:nvSpPr>
        <p:spPr>
          <a:xfrm>
            <a:off x="441425" y="3834475"/>
            <a:ext cx="4650900" cy="17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B050"/>
                </a:solidFill>
              </a:rPr>
              <a:t>Ótima técnica para priorizaç</a:t>
            </a:r>
            <a:r>
              <a:rPr b="1" lang="en-US" sz="2800">
                <a:solidFill>
                  <a:srgbClr val="00B050"/>
                </a:solidFill>
              </a:rPr>
              <a:t>ão</a:t>
            </a:r>
            <a:r>
              <a:rPr b="1" lang="en-US" sz="2800">
                <a:solidFill>
                  <a:srgbClr val="00B050"/>
                </a:solidFill>
              </a:rPr>
              <a:t> de hipóteses!</a:t>
            </a:r>
            <a:endParaRPr b="1" sz="2800">
              <a:solidFill>
                <a:srgbClr val="00B05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34343"/>
                </a:solidFill>
              </a:rPr>
              <a:t>(funciona bem combinado com brainstorming)</a:t>
            </a:r>
            <a:endParaRPr sz="15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e1d6d68533_0_443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g3e1d6d68533_0_443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5W2H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952" name="Google Shape;952;g3e1d6d68533_0_443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g3e1d6d68533_0_443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g3e1d6d68533_0_4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55" name="Google Shape;955;g3e1d6d68533_0_4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956" name="Google Shape;956;g3e1d6d68533_0_4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g3e1d6d68533_0_443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958" name="Google Shape;958;g3e1d6d68533_0_443"/>
          <p:cNvSpPr txBox="1"/>
          <p:nvPr/>
        </p:nvSpPr>
        <p:spPr>
          <a:xfrm>
            <a:off x="467575" y="3074763"/>
            <a:ext cx="3237000" cy="17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0B050"/>
                </a:solidFill>
              </a:rPr>
              <a:t>Ótima técnica para validar objetivos espec</a:t>
            </a:r>
            <a:r>
              <a:rPr b="1" lang="en-US" sz="2600">
                <a:solidFill>
                  <a:srgbClr val="00B050"/>
                </a:solidFill>
              </a:rPr>
              <a:t>íficos</a:t>
            </a:r>
            <a:r>
              <a:rPr b="1" lang="en-US" sz="2600">
                <a:solidFill>
                  <a:srgbClr val="00B050"/>
                </a:solidFill>
              </a:rPr>
              <a:t>!</a:t>
            </a:r>
            <a:endParaRPr b="1" sz="2600">
              <a:solidFill>
                <a:srgbClr val="00B05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34343"/>
                </a:solidFill>
              </a:rPr>
              <a:t>(ap</a:t>
            </a:r>
            <a:r>
              <a:rPr lang="en-US" sz="1500">
                <a:solidFill>
                  <a:srgbClr val="434343"/>
                </a:solidFill>
              </a:rPr>
              <a:t>ós seleção de hipótese</a:t>
            </a:r>
            <a:r>
              <a:rPr lang="en-US" sz="1500">
                <a:solidFill>
                  <a:srgbClr val="434343"/>
                </a:solidFill>
              </a:rPr>
              <a:t>)</a:t>
            </a:r>
            <a:endParaRPr sz="1500">
              <a:solidFill>
                <a:srgbClr val="434343"/>
              </a:solidFill>
            </a:endParaRPr>
          </a:p>
        </p:txBody>
      </p:sp>
      <p:pic>
        <p:nvPicPr>
          <p:cNvPr id="959" name="Google Shape;959;g3e1d6d68533_0_4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37850" y="2202725"/>
            <a:ext cx="7961650" cy="332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g3e1d6d68533_0_443"/>
          <p:cNvSpPr txBox="1"/>
          <p:nvPr/>
        </p:nvSpPr>
        <p:spPr>
          <a:xfrm>
            <a:off x="391500" y="1348550"/>
            <a:ext cx="115080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2200">
                <a:solidFill>
                  <a:srgbClr val="333333"/>
                </a:solidFill>
              </a:rPr>
              <a:t>Definir </a:t>
            </a:r>
            <a:r>
              <a:rPr b="1" lang="en-US" sz="2200">
                <a:solidFill>
                  <a:srgbClr val="333333"/>
                </a:solidFill>
              </a:rPr>
              <a:t>o que</a:t>
            </a:r>
            <a:r>
              <a:rPr lang="en-US" sz="2200">
                <a:solidFill>
                  <a:srgbClr val="333333"/>
                </a:solidFill>
              </a:rPr>
              <a:t> será feito, </a:t>
            </a:r>
            <a:r>
              <a:rPr b="1" lang="en-US" sz="2200">
                <a:solidFill>
                  <a:srgbClr val="333333"/>
                </a:solidFill>
              </a:rPr>
              <a:t>por que</a:t>
            </a:r>
            <a:r>
              <a:rPr lang="en-US" sz="2200">
                <a:solidFill>
                  <a:srgbClr val="333333"/>
                </a:solidFill>
              </a:rPr>
              <a:t>, </a:t>
            </a:r>
            <a:r>
              <a:rPr b="1" lang="en-US" sz="2200">
                <a:solidFill>
                  <a:srgbClr val="333333"/>
                </a:solidFill>
              </a:rPr>
              <a:t>onde</a:t>
            </a:r>
            <a:r>
              <a:rPr lang="en-US" sz="2200">
                <a:solidFill>
                  <a:srgbClr val="333333"/>
                </a:solidFill>
              </a:rPr>
              <a:t>, </a:t>
            </a:r>
            <a:r>
              <a:rPr b="1" lang="en-US" sz="2200">
                <a:solidFill>
                  <a:srgbClr val="333333"/>
                </a:solidFill>
              </a:rPr>
              <a:t>quem</a:t>
            </a:r>
            <a:r>
              <a:rPr lang="en-US" sz="2200">
                <a:solidFill>
                  <a:srgbClr val="333333"/>
                </a:solidFill>
              </a:rPr>
              <a:t>, </a:t>
            </a:r>
            <a:r>
              <a:rPr b="1" lang="en-US" sz="2200">
                <a:solidFill>
                  <a:srgbClr val="333333"/>
                </a:solidFill>
              </a:rPr>
              <a:t>quando</a:t>
            </a:r>
            <a:r>
              <a:rPr lang="en-US" sz="2200">
                <a:solidFill>
                  <a:srgbClr val="333333"/>
                </a:solidFill>
              </a:rPr>
              <a:t>, como e </a:t>
            </a:r>
            <a:r>
              <a:rPr b="1" lang="en-US" sz="2200">
                <a:solidFill>
                  <a:srgbClr val="333333"/>
                </a:solidFill>
              </a:rPr>
              <a:t>quanto custa</a:t>
            </a:r>
            <a:r>
              <a:rPr lang="en-US" sz="2200">
                <a:solidFill>
                  <a:srgbClr val="333333"/>
                </a:solidFill>
              </a:rPr>
              <a:t>.</a:t>
            </a:r>
            <a:endParaRPr sz="2200">
              <a:solidFill>
                <a:srgbClr val="333333"/>
              </a:solidFill>
            </a:endParaRPr>
          </a:p>
        </p:txBody>
      </p:sp>
      <p:sp>
        <p:nvSpPr>
          <p:cNvPr id="961" name="Google Shape;961;g3e1d6d68533_0_443"/>
          <p:cNvSpPr txBox="1"/>
          <p:nvPr/>
        </p:nvSpPr>
        <p:spPr>
          <a:xfrm>
            <a:off x="3937850" y="5524875"/>
            <a:ext cx="751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757575"/>
                </a:solidFill>
              </a:rPr>
              <a:t>Fonte: </a:t>
            </a:r>
            <a:r>
              <a:rPr lang="en-US" sz="1000">
                <a:solidFill>
                  <a:srgbClr val="757575"/>
                </a:solidFill>
              </a:rPr>
              <a:t>https://www.sebrae-sc.com.br/blog/5w2h-o-que-e-para-que-serve-e-por-que-usar-na-sua-empresa</a:t>
            </a:r>
            <a:endParaRPr sz="1000">
              <a:solidFill>
                <a:srgbClr val="757575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e1d6d68533_0_462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g3e1d6d68533_0_462"/>
          <p:cNvSpPr txBox="1"/>
          <p:nvPr>
            <p:ph type="title"/>
          </p:nvPr>
        </p:nvSpPr>
        <p:spPr>
          <a:xfrm>
            <a:off x="1496192" y="2292130"/>
            <a:ext cx="9189900" cy="19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</a:pPr>
            <a:r>
              <a:rPr b="1" lang="en-US" sz="5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Pré-projeto de</a:t>
            </a:r>
            <a:endParaRPr b="1" sz="5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</a:pPr>
            <a:r>
              <a:rPr b="1" lang="en-US" sz="5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Dissertação IDP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968" name="Google Shape;968;g3e1d6d68533_0_462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9" name="Google Shape;969;g3e1d6d68533_0_4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65777" y="295605"/>
            <a:ext cx="582448" cy="556172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g3e1d6d68533_0_462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pic>
        <p:nvPicPr>
          <p:cNvPr descr="Uma imagem contendo objeto, relógio de pulso, relógio, placar&#10;&#10;O conteúdo gerado por IA pode estar incorreto." id="971" name="Google Shape;971;g3e1d6d68533_0_4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3e1d6d68533_0_471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g3e1d6d68533_0_471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Atividades em sala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978" name="Google Shape;978;g3e1d6d68533_0_471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g3e1d6d68533_0_471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g3e1d6d68533_0_47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81" name="Google Shape;981;g3e1d6d68533_0_4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982" name="Google Shape;982;g3e1d6d68533_0_4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g3e1d6d68533_0_471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984" name="Google Shape;984;g3e1d6d68533_0_471"/>
          <p:cNvSpPr txBox="1"/>
          <p:nvPr/>
        </p:nvSpPr>
        <p:spPr>
          <a:xfrm>
            <a:off x="393125" y="1061375"/>
            <a:ext cx="11659500" cy="50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00"/>
              <a:buChar char="❏"/>
            </a:pPr>
            <a:r>
              <a:rPr b="1" lang="en-US" sz="1900">
                <a:solidFill>
                  <a:srgbClr val="333333"/>
                </a:solidFill>
              </a:rPr>
              <a:t>Leitura do template de pré-projeto de dissertação</a:t>
            </a:r>
            <a:r>
              <a:rPr lang="en-US" sz="1900">
                <a:solidFill>
                  <a:srgbClr val="333333"/>
                </a:solidFill>
              </a:rPr>
              <a:t> do Mestrado Profissional em Admin. Pública </a:t>
            </a:r>
            <a:endParaRPr sz="1900">
              <a:solidFill>
                <a:srgbClr val="333333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333333"/>
              </a:buClr>
              <a:buSzPts val="1900"/>
              <a:buChar char="❏"/>
            </a:pPr>
            <a:r>
              <a:rPr b="1" lang="en-US" sz="1900">
                <a:solidFill>
                  <a:srgbClr val="333333"/>
                </a:solidFill>
              </a:rPr>
              <a:t>Atividade em dupla</a:t>
            </a:r>
            <a:r>
              <a:rPr lang="en-US" sz="1900">
                <a:solidFill>
                  <a:srgbClr val="333333"/>
                </a:solidFill>
              </a:rPr>
              <a:t>, onde cada mestrando deve exercitar:</a:t>
            </a:r>
            <a:endParaRPr sz="1900">
              <a:solidFill>
                <a:srgbClr val="333333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D4ED8"/>
              </a:buClr>
              <a:buSzPts val="1700"/>
              <a:buChar char="❏"/>
            </a:pPr>
            <a:r>
              <a:rPr lang="en-US" sz="1700">
                <a:solidFill>
                  <a:srgbClr val="1D4ED8"/>
                </a:solidFill>
              </a:rPr>
              <a:t>Selecionar tema de pesquisa</a:t>
            </a:r>
            <a:endParaRPr sz="1700">
              <a:solidFill>
                <a:srgbClr val="1D4ED8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D4ED8"/>
              </a:buClr>
              <a:buSzPts val="1700"/>
              <a:buChar char="❏"/>
            </a:pPr>
            <a:r>
              <a:rPr lang="en-US" sz="1700">
                <a:solidFill>
                  <a:srgbClr val="1D4ED8"/>
                </a:solidFill>
              </a:rPr>
              <a:t>Elencar possíveis lacunas no tema (usar t</a:t>
            </a:r>
            <a:r>
              <a:rPr lang="en-US" sz="1700">
                <a:solidFill>
                  <a:srgbClr val="1D4ED8"/>
                </a:solidFill>
              </a:rPr>
              <a:t>écnica de brainstorming)</a:t>
            </a:r>
            <a:endParaRPr sz="1700">
              <a:solidFill>
                <a:srgbClr val="1D4ED8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D4ED8"/>
              </a:buClr>
              <a:buSzPts val="1700"/>
              <a:buChar char="❏"/>
            </a:pPr>
            <a:r>
              <a:rPr lang="en-US" sz="1700">
                <a:solidFill>
                  <a:srgbClr val="1D4ED8"/>
                </a:solidFill>
              </a:rPr>
              <a:t>Selecionar problema de pesquisa (a partir das lacunas)</a:t>
            </a:r>
            <a:endParaRPr sz="1700">
              <a:solidFill>
                <a:srgbClr val="1D4ED8"/>
              </a:solidFill>
            </a:endParaRPr>
          </a:p>
          <a:p>
            <a:pPr indent="-3238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Char char="-"/>
            </a:pPr>
            <a:r>
              <a:rPr lang="en-US" sz="1500">
                <a:solidFill>
                  <a:srgbClr val="333333"/>
                </a:solidFill>
              </a:rPr>
              <a:t>Pergunta de pesquisa no máximo em 2 linhas</a:t>
            </a:r>
            <a:endParaRPr sz="1500">
              <a:solidFill>
                <a:srgbClr val="333333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D4ED8"/>
              </a:buClr>
              <a:buSzPts val="1700"/>
              <a:buChar char="❏"/>
            </a:pPr>
            <a:r>
              <a:rPr lang="en-US" sz="1700">
                <a:solidFill>
                  <a:srgbClr val="1D4ED8"/>
                </a:solidFill>
              </a:rPr>
              <a:t>Definir objetivo geral</a:t>
            </a:r>
            <a:endParaRPr sz="1700">
              <a:solidFill>
                <a:srgbClr val="1D4ED8"/>
              </a:solidFill>
            </a:endParaRPr>
          </a:p>
          <a:p>
            <a:pPr indent="-3238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Char char="-"/>
            </a:pPr>
            <a:r>
              <a:rPr lang="en-US" sz="1500">
                <a:solidFill>
                  <a:srgbClr val="333333"/>
                </a:solidFill>
              </a:rPr>
              <a:t>Enunciado único definindo o objetivo geral (verbo no infinitivo)</a:t>
            </a:r>
            <a:endParaRPr sz="1500">
              <a:solidFill>
                <a:srgbClr val="333333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D4ED8"/>
              </a:buClr>
              <a:buSzPts val="1700"/>
              <a:buChar char="❏"/>
            </a:pPr>
            <a:r>
              <a:rPr lang="en-US" sz="1700">
                <a:solidFill>
                  <a:srgbClr val="1D4ED8"/>
                </a:solidFill>
              </a:rPr>
              <a:t>Definir objetivos específicos (etapas para realização do objetivo geral)</a:t>
            </a:r>
            <a:endParaRPr sz="1700">
              <a:solidFill>
                <a:srgbClr val="1D4ED8"/>
              </a:solidFill>
            </a:endParaRPr>
          </a:p>
          <a:p>
            <a:pPr indent="-3238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Char char="-"/>
            </a:pPr>
            <a:r>
              <a:rPr lang="en-US" sz="1500">
                <a:solidFill>
                  <a:srgbClr val="333333"/>
                </a:solidFill>
              </a:rPr>
              <a:t>Lista dos objetivos específicos (verbo no infinitivo)</a:t>
            </a:r>
            <a:endParaRPr sz="1500">
              <a:solidFill>
                <a:srgbClr val="333333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D4ED8"/>
              </a:buClr>
              <a:buSzPts val="1700"/>
              <a:buChar char="❏"/>
            </a:pPr>
            <a:r>
              <a:rPr lang="en-US" sz="1700">
                <a:solidFill>
                  <a:srgbClr val="1D4ED8"/>
                </a:solidFill>
              </a:rPr>
              <a:t>Explicar tema, problema, objetivo geral e específicos para o colega</a:t>
            </a:r>
            <a:endParaRPr sz="1700">
              <a:solidFill>
                <a:srgbClr val="1D4ED8"/>
              </a:solidFill>
            </a:endParaRPr>
          </a:p>
          <a:p>
            <a:pPr indent="-3238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Char char="-"/>
            </a:pPr>
            <a:r>
              <a:rPr lang="en-US" sz="1500">
                <a:solidFill>
                  <a:srgbClr val="333333"/>
                </a:solidFill>
              </a:rPr>
              <a:t>Captar feedback</a:t>
            </a:r>
            <a:endParaRPr sz="1700">
              <a:solidFill>
                <a:srgbClr val="1D4ED8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3e1d6d68533_0_488"/>
          <p:cNvSpPr/>
          <p:nvPr/>
        </p:nvSpPr>
        <p:spPr>
          <a:xfrm>
            <a:off x="0" y="1137"/>
            <a:ext cx="12192000" cy="988200"/>
          </a:xfrm>
          <a:prstGeom prst="rect">
            <a:avLst/>
          </a:prstGeom>
          <a:solidFill>
            <a:srgbClr val="CAD8E6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g3e1d6d68533_0_488"/>
          <p:cNvSpPr txBox="1"/>
          <p:nvPr>
            <p:ph type="title"/>
          </p:nvPr>
        </p:nvSpPr>
        <p:spPr>
          <a:xfrm>
            <a:off x="391500" y="154925"/>
            <a:ext cx="1051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Tarefa de casa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991" name="Google Shape;991;g3e1d6d68533_0_488"/>
          <p:cNvSpPr/>
          <p:nvPr/>
        </p:nvSpPr>
        <p:spPr>
          <a:xfrm>
            <a:off x="393114" y="917949"/>
            <a:ext cx="5610000" cy="68100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g3e1d6d68533_0_488"/>
          <p:cNvSpPr/>
          <p:nvPr/>
        </p:nvSpPr>
        <p:spPr>
          <a:xfrm>
            <a:off x="-1" y="6123412"/>
            <a:ext cx="12192000" cy="73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g3e1d6d68533_0_48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94" name="Google Shape;994;g3e1d6d68533_0_4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07" y="269627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995" name="Google Shape;995;g3e1d6d68533_0_4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98" y="6229349"/>
            <a:ext cx="875297" cy="475248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g3e1d6d68533_0_488"/>
          <p:cNvSpPr txBox="1"/>
          <p:nvPr/>
        </p:nvSpPr>
        <p:spPr>
          <a:xfrm>
            <a:off x="1323350" y="6323875"/>
            <a:ext cx="655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5116"/>
                </a:solidFill>
                <a:latin typeface="Arial"/>
                <a:ea typeface="Arial"/>
                <a:cs typeface="Arial"/>
                <a:sym typeface="Arial"/>
              </a:rPr>
              <a:t>| Fundamentos</a:t>
            </a:r>
            <a:r>
              <a:rPr lang="en-US" sz="1600">
                <a:solidFill>
                  <a:srgbClr val="265116"/>
                </a:solidFill>
              </a:rPr>
              <a:t> da Pesquisa Científica e Elaboração de Projetos</a:t>
            </a:r>
            <a:endParaRPr/>
          </a:p>
        </p:txBody>
      </p:sp>
      <p:sp>
        <p:nvSpPr>
          <p:cNvPr id="997" name="Google Shape;997;g3e1d6d68533_0_488"/>
          <p:cNvSpPr txBox="1"/>
          <p:nvPr/>
        </p:nvSpPr>
        <p:spPr>
          <a:xfrm>
            <a:off x="393125" y="1061375"/>
            <a:ext cx="11659500" cy="50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33333"/>
                </a:solidFill>
              </a:rPr>
              <a:t>Iniciar o preenchimento do template de pré-projeto de dissertação </a:t>
            </a:r>
            <a:r>
              <a:rPr lang="en-US" sz="1900">
                <a:solidFill>
                  <a:srgbClr val="333333"/>
                </a:solidFill>
              </a:rPr>
              <a:t> </a:t>
            </a:r>
            <a:endParaRPr sz="19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33333"/>
                </a:solidFill>
              </a:rPr>
              <a:t>Preencher aprimorando os elementos vistos em sala hoje</a:t>
            </a:r>
            <a:r>
              <a:rPr lang="en-US" sz="1900">
                <a:solidFill>
                  <a:srgbClr val="333333"/>
                </a:solidFill>
              </a:rPr>
              <a:t>:</a:t>
            </a:r>
            <a:endParaRPr sz="1900">
              <a:solidFill>
                <a:srgbClr val="333333"/>
              </a:solidFill>
            </a:endParaRPr>
          </a:p>
          <a:p>
            <a:pPr indent="-349250" lvl="1" marL="914400" rtl="0" algn="l">
              <a:spcBef>
                <a:spcPts val="2000"/>
              </a:spcBef>
              <a:spcAft>
                <a:spcPts val="0"/>
              </a:spcAft>
              <a:buClr>
                <a:srgbClr val="2D3B45"/>
              </a:buClr>
              <a:buSzPts val="1900"/>
              <a:buChar char="❏"/>
            </a:pPr>
            <a:r>
              <a:rPr lang="en-US" sz="1900">
                <a:solidFill>
                  <a:srgbClr val="2D3B45"/>
                </a:solidFill>
                <a:highlight>
                  <a:schemeClr val="lt1"/>
                </a:highlight>
              </a:rPr>
              <a:t>Contextualização temática (seção 1.1), a partir do</a:t>
            </a:r>
            <a:r>
              <a:rPr lang="en-US" sz="1900">
                <a:solidFill>
                  <a:srgbClr val="2D3B45"/>
                </a:solidFill>
                <a:highlight>
                  <a:schemeClr val="lt1"/>
                </a:highlight>
              </a:rPr>
              <a:t> </a:t>
            </a:r>
            <a:r>
              <a:rPr b="1" lang="en-US" sz="1900">
                <a:solidFill>
                  <a:srgbClr val="2D3B45"/>
                </a:solidFill>
                <a:highlight>
                  <a:schemeClr val="lt1"/>
                </a:highlight>
              </a:rPr>
              <a:t>tema</a:t>
            </a:r>
            <a:r>
              <a:rPr lang="en-US" sz="1900">
                <a:solidFill>
                  <a:srgbClr val="2D3B45"/>
                </a:solidFill>
                <a:highlight>
                  <a:schemeClr val="lt1"/>
                </a:highlight>
              </a:rPr>
              <a:t> de pesquisa</a:t>
            </a:r>
            <a:endParaRPr sz="1900">
              <a:solidFill>
                <a:srgbClr val="2D3B45"/>
              </a:solidFill>
              <a:highlight>
                <a:schemeClr val="lt1"/>
              </a:highlight>
            </a:endParaRPr>
          </a:p>
          <a:p>
            <a:pPr indent="-349250" lvl="1" marL="914400" rtl="0" algn="l">
              <a:spcBef>
                <a:spcPts val="1500"/>
              </a:spcBef>
              <a:spcAft>
                <a:spcPts val="0"/>
              </a:spcAft>
              <a:buClr>
                <a:srgbClr val="2D3B45"/>
              </a:buClr>
              <a:buSzPts val="1900"/>
              <a:buChar char="❏"/>
            </a:pPr>
            <a:r>
              <a:rPr lang="en-US" sz="1900">
                <a:solidFill>
                  <a:srgbClr val="2D3B45"/>
                </a:solidFill>
                <a:highlight>
                  <a:schemeClr val="lt1"/>
                </a:highlight>
              </a:rPr>
              <a:t>Apresentação da problemática e da pergunta de pesquisa (seção 1.2), a partir do </a:t>
            </a:r>
            <a:r>
              <a:rPr b="1" lang="en-US" sz="1900">
                <a:solidFill>
                  <a:srgbClr val="2D3B45"/>
                </a:solidFill>
                <a:highlight>
                  <a:schemeClr val="lt1"/>
                </a:highlight>
              </a:rPr>
              <a:t>problema</a:t>
            </a:r>
            <a:r>
              <a:rPr lang="en-US" sz="1900">
                <a:solidFill>
                  <a:srgbClr val="2D3B45"/>
                </a:solidFill>
                <a:highlight>
                  <a:schemeClr val="lt1"/>
                </a:highlight>
              </a:rPr>
              <a:t> de pesquisa</a:t>
            </a:r>
            <a:endParaRPr sz="1900">
              <a:solidFill>
                <a:srgbClr val="2D3B45"/>
              </a:solidFill>
              <a:highlight>
                <a:schemeClr val="lt1"/>
              </a:highlight>
            </a:endParaRPr>
          </a:p>
          <a:p>
            <a:pPr indent="-349250" lvl="1" marL="914400" rtl="0" algn="l">
              <a:spcBef>
                <a:spcPts val="1500"/>
              </a:spcBef>
              <a:spcAft>
                <a:spcPts val="0"/>
              </a:spcAft>
              <a:buClr>
                <a:srgbClr val="2D3B45"/>
              </a:buClr>
              <a:buSzPts val="1900"/>
              <a:buChar char="❏"/>
            </a:pPr>
            <a:r>
              <a:rPr lang="en-US" sz="1900">
                <a:solidFill>
                  <a:srgbClr val="2D3B45"/>
                </a:solidFill>
                <a:highlight>
                  <a:schemeClr val="lt1"/>
                </a:highlight>
              </a:rPr>
              <a:t>Enunciação do objetivo geral (seção 1.3), a partir do </a:t>
            </a:r>
            <a:r>
              <a:rPr b="1" lang="en-US" sz="1900">
                <a:solidFill>
                  <a:srgbClr val="2D3B45"/>
                </a:solidFill>
                <a:highlight>
                  <a:schemeClr val="lt1"/>
                </a:highlight>
              </a:rPr>
              <a:t>objetivo geral</a:t>
            </a:r>
            <a:endParaRPr b="1" sz="1900">
              <a:solidFill>
                <a:srgbClr val="2D3B45"/>
              </a:solidFill>
              <a:highlight>
                <a:schemeClr val="lt1"/>
              </a:highlight>
            </a:endParaRPr>
          </a:p>
          <a:p>
            <a:pPr indent="-349250" lvl="1" marL="914400" rtl="0" algn="l">
              <a:spcBef>
                <a:spcPts val="1500"/>
              </a:spcBef>
              <a:spcAft>
                <a:spcPts val="0"/>
              </a:spcAft>
              <a:buClr>
                <a:srgbClr val="2D3B45"/>
              </a:buClr>
              <a:buSzPts val="1900"/>
              <a:buChar char="❏"/>
            </a:pPr>
            <a:r>
              <a:rPr lang="en-US" sz="1900">
                <a:solidFill>
                  <a:srgbClr val="2D3B45"/>
                </a:solidFill>
                <a:highlight>
                  <a:schemeClr val="lt1"/>
                </a:highlight>
              </a:rPr>
              <a:t>Enunciação dos objetivos específicos (seção 1.4), a partir dos </a:t>
            </a:r>
            <a:r>
              <a:rPr b="1" lang="en-US" sz="1900">
                <a:solidFill>
                  <a:srgbClr val="2D3B45"/>
                </a:solidFill>
                <a:highlight>
                  <a:schemeClr val="lt1"/>
                </a:highlight>
              </a:rPr>
              <a:t>objetivos específicos</a:t>
            </a:r>
            <a:endParaRPr b="1" sz="1900">
              <a:solidFill>
                <a:srgbClr val="2D3B45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2D3B45"/>
              </a:solidFill>
              <a:highlight>
                <a:schemeClr val="lt1"/>
              </a:highlight>
            </a:endParaRPr>
          </a:p>
          <a:p>
            <a:pPr indent="457200" lvl="0" marL="0" rtl="0" algn="l">
              <a:spcBef>
                <a:spcPts val="15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rgbClr val="C00000"/>
                </a:solidFill>
                <a:highlight>
                  <a:srgbClr val="FFF2CC"/>
                </a:highlight>
              </a:rPr>
              <a:t>Data da entrega: 23/05/26</a:t>
            </a:r>
            <a:endParaRPr sz="1900">
              <a:solidFill>
                <a:srgbClr val="2D3B45"/>
              </a:solidFill>
              <a:highlight>
                <a:schemeClr val="lt1"/>
              </a:highlight>
            </a:endParaRPr>
          </a:p>
        </p:txBody>
      </p:sp>
      <p:sp>
        <p:nvSpPr>
          <p:cNvPr id="998" name="Google Shape;998;g3e1d6d68533_0_488"/>
          <p:cNvSpPr txBox="1"/>
          <p:nvPr/>
        </p:nvSpPr>
        <p:spPr>
          <a:xfrm>
            <a:off x="6054150" y="5089600"/>
            <a:ext cx="5478000" cy="47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3300000" dist="7620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Monitoria Prof. Clayton Rodrigues (a agendar)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70"/>
          <p:cNvSpPr/>
          <p:nvPr/>
        </p:nvSpPr>
        <p:spPr>
          <a:xfrm>
            <a:off x="0" y="1137"/>
            <a:ext cx="12192000" cy="988245"/>
          </a:xfrm>
          <a:prstGeom prst="rect">
            <a:avLst/>
          </a:prstGeom>
          <a:solidFill>
            <a:srgbClr val="CAD8E6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70"/>
          <p:cNvSpPr txBox="1"/>
          <p:nvPr>
            <p:ph type="title"/>
          </p:nvPr>
        </p:nvSpPr>
        <p:spPr>
          <a:xfrm>
            <a:off x="5459875" y="1898000"/>
            <a:ext cx="45924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Arial"/>
              <a:buNone/>
            </a:pPr>
            <a:r>
              <a:rPr b="1" lang="en-US" sz="6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Obrigado!</a:t>
            </a:r>
            <a:endParaRPr sz="6000">
              <a:solidFill>
                <a:schemeClr val="accent1"/>
              </a:solidFill>
            </a:endParaRPr>
          </a:p>
        </p:txBody>
      </p:sp>
      <p:sp>
        <p:nvSpPr>
          <p:cNvPr id="1005" name="Google Shape;1005;p70"/>
          <p:cNvSpPr/>
          <p:nvPr/>
        </p:nvSpPr>
        <p:spPr>
          <a:xfrm>
            <a:off x="-1" y="6123412"/>
            <a:ext cx="12192000" cy="73424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70"/>
          <p:cNvSpPr txBox="1"/>
          <p:nvPr/>
        </p:nvSpPr>
        <p:spPr>
          <a:xfrm>
            <a:off x="951404" y="3856337"/>
            <a:ext cx="3192594" cy="604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Prof. Marcelo </a:t>
            </a: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Pita</a:t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70"/>
          <p:cNvSpPr txBox="1"/>
          <p:nvPr/>
        </p:nvSpPr>
        <p:spPr>
          <a:xfrm>
            <a:off x="7466505" y="3426208"/>
            <a:ext cx="3804198" cy="604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Dúvidas?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8" name="Google Shape;1008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65777" y="295605"/>
            <a:ext cx="582448" cy="55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objeto, relógio de pulso, relógio, placar&#10;&#10;O conteúdo gerado por IA pode estar incorreto." id="1009" name="Google Shape;1009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6007" y="1938086"/>
            <a:ext cx="3181350" cy="1608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2025-04-30T23:17:51Z</dcterms:created>
</cp:coreProperties>
</file>